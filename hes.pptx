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1" d="100"/>
          <a:sy n="111" d="100"/>
        </p:scale>
        <p:origin x="55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hestia-kw5k.onrender.co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87952" y="2543175"/>
            <a:ext cx="3815945" cy="762000"/>
          </a:xfrm>
          <a:prstGeom prst="rect">
            <a:avLst/>
          </a:prstGeom>
          <a:noFill/>
        </p:spPr>
        <p:txBody>
          <a:bodyPr wrap="square" lIns="0" tIns="0" rIns="0" bIns="0" anchor="t">
            <a:spAutoFit/>
          </a:bodyPr>
          <a:lstStyle/>
          <a:p>
            <a:pPr algn="ctr"/>
            <a:r>
              <a:rPr sz="5250" b="1" i="0" u="none">
                <a:solidFill>
                  <a:srgbClr val="000000"/>
                </a:solidFill>
                <a:latin typeface="Times New Roman"/>
              </a:rPr>
              <a:t>HESTIA</a:t>
            </a:r>
          </a:p>
        </p:txBody>
      </p:sp>
      <p:sp>
        <p:nvSpPr>
          <p:cNvPr id="3" name="TextBox 2"/>
          <p:cNvSpPr txBox="1"/>
          <p:nvPr/>
        </p:nvSpPr>
        <p:spPr>
          <a:xfrm>
            <a:off x="4278808" y="3495675"/>
            <a:ext cx="3634233" cy="628650"/>
          </a:xfrm>
          <a:prstGeom prst="rect">
            <a:avLst/>
          </a:prstGeom>
          <a:noFill/>
        </p:spPr>
        <p:txBody>
          <a:bodyPr wrap="square" lIns="0" tIns="0" rIns="0" bIns="0" anchor="t">
            <a:spAutoFit/>
          </a:bodyPr>
          <a:lstStyle/>
          <a:p>
            <a:pPr algn="ctr">
              <a:lnSpc>
                <a:spcPts val="2475"/>
              </a:lnSpc>
            </a:pPr>
            <a:r>
              <a:rPr sz="1650" b="0" i="0" u="none">
                <a:solidFill>
                  <a:srgbClr val="000000"/>
                </a:solidFill>
                <a:latin typeface="Times New Roman"/>
              </a:rPr>
              <a:t>A Multi-Tiered OOP Solution to Credential</a:t>
            </a:r>
            <a:r>
              <a:t>
</a:t>
            </a:r>
            <a:r>
              <a:rPr sz="1650" b="0" i="0" u="none">
                <a:solidFill>
                  <a:srgbClr val="000000"/>
                </a:solidFill>
                <a:latin typeface="Times New Roman"/>
              </a:rPr>
              <a:t> Verification and Eligibility Matching</a:t>
            </a:r>
          </a:p>
        </p:txBody>
      </p:sp>
      <p:sp>
        <p:nvSpPr>
          <p:cNvPr id="4" name="TextBox 3"/>
          <p:cNvSpPr txBox="1"/>
          <p:nvPr/>
        </p:nvSpPr>
        <p:spPr>
          <a:xfrm>
            <a:off x="581025" y="581025"/>
            <a:ext cx="1085998" cy="257175"/>
          </a:xfrm>
          <a:prstGeom prst="rect">
            <a:avLst/>
          </a:prstGeom>
          <a:noFill/>
        </p:spPr>
        <p:txBody>
          <a:bodyPr wrap="square" lIns="0" tIns="0" rIns="0" bIns="0" anchor="t">
            <a:spAutoFit/>
          </a:bodyPr>
          <a:lstStyle/>
          <a:p>
            <a:pPr algn="l"/>
            <a:r>
              <a:rPr sz="1800" b="1" i="0" u="none">
                <a:solidFill>
                  <a:srgbClr val="000000"/>
                </a:solidFill>
                <a:latin typeface="Times New Roman"/>
              </a:rPr>
              <a:t>GROUP 11</a:t>
            </a:r>
          </a:p>
        </p:txBody>
      </p:sp>
      <p:sp>
        <p:nvSpPr>
          <p:cNvPr id="5" name="TextBox 4"/>
          <p:cNvSpPr txBox="1"/>
          <p:nvPr/>
        </p:nvSpPr>
        <p:spPr>
          <a:xfrm>
            <a:off x="-419093" y="5769144"/>
            <a:ext cx="2903499" cy="738664"/>
          </a:xfrm>
          <a:prstGeom prst="rect">
            <a:avLst/>
          </a:prstGeom>
          <a:noFill/>
        </p:spPr>
        <p:txBody>
          <a:bodyPr wrap="square" lIns="0" tIns="0" rIns="0" bIns="0" anchor="t">
            <a:spAutoFit/>
          </a:bodyPr>
          <a:lstStyle/>
          <a:p>
            <a:pPr algn="r"/>
            <a:r>
              <a:rPr sz="1500" b="0" i="0" u="none" dirty="0">
                <a:solidFill>
                  <a:srgbClr val="000000"/>
                </a:solidFill>
                <a:latin typeface="Times New Roman"/>
              </a:rPr>
              <a:t>Presentation by:</a:t>
            </a:r>
            <a:r>
              <a:rPr dirty="0"/>
              <a:t>
</a:t>
            </a:r>
            <a:r>
              <a:rPr sz="1500" b="1" i="0" u="none" dirty="0" err="1">
                <a:solidFill>
                  <a:srgbClr val="000000"/>
                </a:solidFill>
                <a:latin typeface="Times New Roman"/>
              </a:rPr>
              <a:t>N</a:t>
            </a:r>
            <a:r>
              <a:rPr lang="en-US" sz="1500" b="1" i="0" u="none" dirty="0" err="1">
                <a:solidFill>
                  <a:srgbClr val="000000"/>
                </a:solidFill>
                <a:latin typeface="Times New Roman"/>
              </a:rPr>
              <a:t>ripan</a:t>
            </a:r>
            <a:r>
              <a:rPr lang="en-US" sz="1500" b="1" i="0" u="none" dirty="0">
                <a:solidFill>
                  <a:srgbClr val="000000"/>
                </a:solidFill>
                <a:latin typeface="Times New Roman"/>
              </a:rPr>
              <a:t> Satheesh</a:t>
            </a:r>
          </a:p>
          <a:p>
            <a:pPr algn="r"/>
            <a:r>
              <a:rPr lang="en-US" sz="1500" b="1" dirty="0">
                <a:solidFill>
                  <a:srgbClr val="000000"/>
                </a:solidFill>
                <a:latin typeface="Times New Roman"/>
              </a:rPr>
              <a:t>Muhammed</a:t>
            </a:r>
            <a:r>
              <a:rPr sz="1500" b="1" i="0" u="none" dirty="0">
                <a:solidFill>
                  <a:srgbClr val="000000"/>
                </a:solidFill>
                <a:latin typeface="Times New Roman"/>
              </a:rPr>
              <a:t> </a:t>
            </a:r>
            <a:r>
              <a:rPr sz="1500" b="1" i="0" u="none" dirty="0" err="1">
                <a:solidFill>
                  <a:srgbClr val="000000"/>
                </a:solidFill>
                <a:latin typeface="Times New Roman"/>
              </a:rPr>
              <a:t>A</a:t>
            </a:r>
            <a:r>
              <a:rPr lang="en-US" sz="1500" b="1" i="0" u="none" dirty="0" err="1">
                <a:solidFill>
                  <a:srgbClr val="000000"/>
                </a:solidFill>
                <a:latin typeface="Times New Roman"/>
              </a:rPr>
              <a:t>frith</a:t>
            </a:r>
            <a:r>
              <a:rPr lang="en-US" sz="1500" b="1" dirty="0" err="1">
                <a:solidFill>
                  <a:srgbClr val="000000"/>
                </a:solidFill>
                <a:latin typeface="Times New Roman"/>
              </a:rPr>
              <a:t>kan</a:t>
            </a:r>
            <a:endParaRPr sz="1500" b="1" i="0" u="none" dirty="0">
              <a:solidFill>
                <a:srgbClr val="000000"/>
              </a:solidFill>
              <a:latin typeface="Times New Roman"/>
            </a:endParaRPr>
          </a:p>
        </p:txBody>
      </p:sp>
      <p:sp>
        <p:nvSpPr>
          <p:cNvPr id="10" name="TextBox 9">
            <a:extLst>
              <a:ext uri="{FF2B5EF4-FFF2-40B4-BE49-F238E27FC236}">
                <a16:creationId xmlns:a16="http://schemas.microsoft.com/office/drawing/2014/main" id="{30B9BCA2-CD13-4BBE-47E5-16FEAEFC4600}"/>
              </a:ext>
            </a:extLst>
          </p:cNvPr>
          <p:cNvSpPr txBox="1"/>
          <p:nvPr/>
        </p:nvSpPr>
        <p:spPr>
          <a:xfrm>
            <a:off x="8609887" y="5884560"/>
            <a:ext cx="2903499" cy="507831"/>
          </a:xfrm>
          <a:prstGeom prst="rect">
            <a:avLst/>
          </a:prstGeom>
          <a:noFill/>
        </p:spPr>
        <p:txBody>
          <a:bodyPr wrap="square" lIns="0" tIns="0" rIns="0" bIns="0" anchor="t">
            <a:spAutoFit/>
          </a:bodyPr>
          <a:lstStyle/>
          <a:p>
            <a:pPr algn="r"/>
            <a:r>
              <a:rPr lang="en-US" sz="1500" dirty="0">
                <a:solidFill>
                  <a:srgbClr val="000000"/>
                </a:solidFill>
                <a:latin typeface="Times New Roman"/>
              </a:rPr>
              <a:t>Guided</a:t>
            </a:r>
            <a:r>
              <a:rPr sz="1500" b="0" i="0" u="none" dirty="0">
                <a:solidFill>
                  <a:srgbClr val="000000"/>
                </a:solidFill>
                <a:latin typeface="Times New Roman"/>
              </a:rPr>
              <a:t> by:</a:t>
            </a:r>
            <a:r>
              <a:rPr dirty="0"/>
              <a:t>
</a:t>
            </a:r>
            <a:r>
              <a:rPr lang="en-US" sz="1500" b="1" dirty="0">
                <a:solidFill>
                  <a:srgbClr val="000000"/>
                </a:solidFill>
                <a:latin typeface="Times New Roman"/>
              </a:rPr>
              <a:t>Dr Annie Chacko</a:t>
            </a:r>
            <a:endParaRPr lang="en-US" sz="1500" b="1" i="0" u="none" dirty="0">
              <a:solidFill>
                <a:srgbClr val="000000"/>
              </a:solidFill>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334125" y="1757362"/>
            <a:ext cx="5276850" cy="4286250"/>
          </a:xfrm>
          <a:prstGeom prst="rect">
            <a:avLst/>
          </a:prstGeom>
        </p:spPr>
      </p:pic>
      <p:sp>
        <p:nvSpPr>
          <p:cNvPr id="3" name="TextBox 2"/>
          <p:cNvSpPr txBox="1"/>
          <p:nvPr/>
        </p:nvSpPr>
        <p:spPr>
          <a:xfrm>
            <a:off x="742950" y="1757362"/>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4" name="TextBox 3"/>
          <p:cNvSpPr txBox="1"/>
          <p:nvPr/>
        </p:nvSpPr>
        <p:spPr>
          <a:xfrm>
            <a:off x="819150" y="1757362"/>
            <a:ext cx="5038725" cy="314325"/>
          </a:xfrm>
          <a:prstGeom prst="rect">
            <a:avLst/>
          </a:prstGeom>
          <a:noFill/>
        </p:spPr>
        <p:txBody>
          <a:bodyPr wrap="square" lIns="76200" tIns="0" rIns="0" bIns="0" anchor="t">
            <a:spAutoFit/>
          </a:bodyPr>
          <a:lstStyle/>
          <a:p>
            <a:pPr algn="l">
              <a:lnSpc>
                <a:spcPts val="2475"/>
              </a:lnSpc>
            </a:pPr>
            <a:r>
              <a:rPr sz="1650" b="0" i="0" u="none">
                <a:solidFill>
                  <a:srgbClr val="000000"/>
                </a:solidFill>
                <a:latin typeface="Times New Roman"/>
              </a:rPr>
              <a:t>Abstract</a:t>
            </a:r>
          </a:p>
        </p:txBody>
      </p:sp>
      <p:sp>
        <p:nvSpPr>
          <p:cNvPr id="5" name="TextBox 4"/>
          <p:cNvSpPr txBox="1"/>
          <p:nvPr/>
        </p:nvSpPr>
        <p:spPr>
          <a:xfrm>
            <a:off x="742950" y="2214562"/>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6" name="TextBox 5"/>
          <p:cNvSpPr txBox="1"/>
          <p:nvPr/>
        </p:nvSpPr>
        <p:spPr>
          <a:xfrm>
            <a:off x="819150" y="2214562"/>
            <a:ext cx="5038725" cy="314325"/>
          </a:xfrm>
          <a:prstGeom prst="rect">
            <a:avLst/>
          </a:prstGeom>
          <a:noFill/>
        </p:spPr>
        <p:txBody>
          <a:bodyPr wrap="square" lIns="76200" tIns="0" rIns="0" bIns="0" anchor="t">
            <a:spAutoFit/>
          </a:bodyPr>
          <a:lstStyle/>
          <a:p>
            <a:pPr algn="l">
              <a:lnSpc>
                <a:spcPts val="2475"/>
              </a:lnSpc>
            </a:pPr>
            <a:r>
              <a:rPr sz="1650" b="0" i="0" u="none">
                <a:solidFill>
                  <a:srgbClr val="000000"/>
                </a:solidFill>
                <a:latin typeface="Times New Roman"/>
              </a:rPr>
              <a:t>Introduction &amp; Problem Statement</a:t>
            </a:r>
          </a:p>
        </p:txBody>
      </p:sp>
      <p:sp>
        <p:nvSpPr>
          <p:cNvPr id="7" name="TextBox 6"/>
          <p:cNvSpPr txBox="1"/>
          <p:nvPr/>
        </p:nvSpPr>
        <p:spPr>
          <a:xfrm>
            <a:off x="742950" y="2671762"/>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8" name="TextBox 7"/>
          <p:cNvSpPr txBox="1"/>
          <p:nvPr/>
        </p:nvSpPr>
        <p:spPr>
          <a:xfrm>
            <a:off x="819150" y="2671762"/>
            <a:ext cx="5038725" cy="314325"/>
          </a:xfrm>
          <a:prstGeom prst="rect">
            <a:avLst/>
          </a:prstGeom>
          <a:noFill/>
        </p:spPr>
        <p:txBody>
          <a:bodyPr wrap="square" lIns="76200" tIns="0" rIns="0" bIns="0" anchor="t">
            <a:spAutoFit/>
          </a:bodyPr>
          <a:lstStyle/>
          <a:p>
            <a:pPr algn="l">
              <a:lnSpc>
                <a:spcPts val="2475"/>
              </a:lnSpc>
            </a:pPr>
            <a:r>
              <a:rPr sz="1650" b="0" i="0" u="none">
                <a:solidFill>
                  <a:srgbClr val="000000"/>
                </a:solidFill>
                <a:latin typeface="Times New Roman"/>
              </a:rPr>
              <a:t>OOP Architecture &amp; Design Patterns</a:t>
            </a:r>
          </a:p>
        </p:txBody>
      </p:sp>
      <p:sp>
        <p:nvSpPr>
          <p:cNvPr id="9" name="TextBox 8"/>
          <p:cNvSpPr txBox="1"/>
          <p:nvPr/>
        </p:nvSpPr>
        <p:spPr>
          <a:xfrm>
            <a:off x="742950" y="3128962"/>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10" name="TextBox 9"/>
          <p:cNvSpPr txBox="1"/>
          <p:nvPr/>
        </p:nvSpPr>
        <p:spPr>
          <a:xfrm>
            <a:off x="819150" y="3128962"/>
            <a:ext cx="5038725" cy="314325"/>
          </a:xfrm>
          <a:prstGeom prst="rect">
            <a:avLst/>
          </a:prstGeom>
          <a:noFill/>
        </p:spPr>
        <p:txBody>
          <a:bodyPr wrap="square" lIns="76200" tIns="0" rIns="0" bIns="0" anchor="t">
            <a:spAutoFit/>
          </a:bodyPr>
          <a:lstStyle/>
          <a:p>
            <a:pPr algn="l">
              <a:lnSpc>
                <a:spcPts val="2475"/>
              </a:lnSpc>
            </a:pPr>
            <a:r>
              <a:rPr sz="1650" b="0" i="0" u="none">
                <a:solidFill>
                  <a:srgbClr val="000000"/>
                </a:solidFill>
                <a:latin typeface="Times New Roman"/>
              </a:rPr>
              <a:t>System Module Breakdown (60% Progress)</a:t>
            </a:r>
          </a:p>
        </p:txBody>
      </p:sp>
      <p:sp>
        <p:nvSpPr>
          <p:cNvPr id="11" name="TextBox 10"/>
          <p:cNvSpPr txBox="1"/>
          <p:nvPr/>
        </p:nvSpPr>
        <p:spPr>
          <a:xfrm>
            <a:off x="742950" y="3586162"/>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12" name="TextBox 11"/>
          <p:cNvSpPr txBox="1"/>
          <p:nvPr/>
        </p:nvSpPr>
        <p:spPr>
          <a:xfrm>
            <a:off x="819150" y="3586162"/>
            <a:ext cx="5038725" cy="314325"/>
          </a:xfrm>
          <a:prstGeom prst="rect">
            <a:avLst/>
          </a:prstGeom>
          <a:noFill/>
        </p:spPr>
        <p:txBody>
          <a:bodyPr wrap="square" lIns="76200" tIns="0" rIns="0" bIns="0" anchor="t">
            <a:spAutoFit/>
          </a:bodyPr>
          <a:lstStyle/>
          <a:p>
            <a:pPr algn="l">
              <a:lnSpc>
                <a:spcPts val="2475"/>
              </a:lnSpc>
            </a:pPr>
            <a:r>
              <a:rPr sz="1650" b="0" i="0" u="none">
                <a:solidFill>
                  <a:srgbClr val="000000"/>
                </a:solidFill>
                <a:latin typeface="Times New Roman"/>
              </a:rPr>
              <a:t>Modules Details</a:t>
            </a:r>
          </a:p>
        </p:txBody>
      </p:sp>
      <p:sp>
        <p:nvSpPr>
          <p:cNvPr id="13" name="TextBox 12"/>
          <p:cNvSpPr txBox="1"/>
          <p:nvPr/>
        </p:nvSpPr>
        <p:spPr>
          <a:xfrm>
            <a:off x="742950" y="4043362"/>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14" name="TextBox 13"/>
          <p:cNvSpPr txBox="1"/>
          <p:nvPr/>
        </p:nvSpPr>
        <p:spPr>
          <a:xfrm>
            <a:off x="819150" y="4043362"/>
            <a:ext cx="5038725" cy="314325"/>
          </a:xfrm>
          <a:prstGeom prst="rect">
            <a:avLst/>
          </a:prstGeom>
          <a:noFill/>
        </p:spPr>
        <p:txBody>
          <a:bodyPr wrap="square" lIns="76200" tIns="0" rIns="0" bIns="0" anchor="t">
            <a:spAutoFit/>
          </a:bodyPr>
          <a:lstStyle/>
          <a:p>
            <a:pPr algn="l">
              <a:lnSpc>
                <a:spcPts val="2475"/>
              </a:lnSpc>
            </a:pPr>
            <a:r>
              <a:rPr sz="1650" b="0" i="0" u="none">
                <a:solidFill>
                  <a:srgbClr val="000000"/>
                </a:solidFill>
                <a:latin typeface="Times New Roman"/>
              </a:rPr>
              <a:t>Software &amp; Hardware Requirements</a:t>
            </a:r>
          </a:p>
        </p:txBody>
      </p:sp>
      <p:sp>
        <p:nvSpPr>
          <p:cNvPr id="15" name="TextBox 14"/>
          <p:cNvSpPr txBox="1"/>
          <p:nvPr/>
        </p:nvSpPr>
        <p:spPr>
          <a:xfrm>
            <a:off x="742950" y="4500562"/>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16" name="TextBox 15"/>
          <p:cNvSpPr txBox="1"/>
          <p:nvPr/>
        </p:nvSpPr>
        <p:spPr>
          <a:xfrm>
            <a:off x="819150" y="4500562"/>
            <a:ext cx="5038725" cy="314325"/>
          </a:xfrm>
          <a:prstGeom prst="rect">
            <a:avLst/>
          </a:prstGeom>
          <a:noFill/>
        </p:spPr>
        <p:txBody>
          <a:bodyPr wrap="square" lIns="76200" tIns="0" rIns="0" bIns="0" anchor="t">
            <a:spAutoFit/>
          </a:bodyPr>
          <a:lstStyle/>
          <a:p>
            <a:pPr algn="l">
              <a:lnSpc>
                <a:spcPts val="2475"/>
              </a:lnSpc>
            </a:pPr>
            <a:r>
              <a:rPr sz="1650" b="0" i="0" u="none">
                <a:solidFill>
                  <a:srgbClr val="000000"/>
                </a:solidFill>
                <a:latin typeface="Times New Roman"/>
              </a:rPr>
              <a:t>Project Conclusion &amp; Key Outcomes</a:t>
            </a:r>
          </a:p>
        </p:txBody>
      </p:sp>
      <p:sp>
        <p:nvSpPr>
          <p:cNvPr id="17" name="TextBox 16"/>
          <p:cNvSpPr txBox="1"/>
          <p:nvPr/>
        </p:nvSpPr>
        <p:spPr>
          <a:xfrm>
            <a:off x="742950" y="4957762"/>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18" name="TextBox 17"/>
          <p:cNvSpPr txBox="1"/>
          <p:nvPr/>
        </p:nvSpPr>
        <p:spPr>
          <a:xfrm>
            <a:off x="819150" y="4957762"/>
            <a:ext cx="5038725" cy="314325"/>
          </a:xfrm>
          <a:prstGeom prst="rect">
            <a:avLst/>
          </a:prstGeom>
          <a:noFill/>
        </p:spPr>
        <p:txBody>
          <a:bodyPr wrap="square" lIns="76200" tIns="0" rIns="0" bIns="0" anchor="t">
            <a:spAutoFit/>
          </a:bodyPr>
          <a:lstStyle/>
          <a:p>
            <a:pPr algn="l">
              <a:lnSpc>
                <a:spcPts val="2475"/>
              </a:lnSpc>
            </a:pPr>
            <a:r>
              <a:rPr sz="1650" b="0" i="0" u="none">
                <a:solidFill>
                  <a:srgbClr val="000000"/>
                </a:solidFill>
                <a:latin typeface="Times New Roman"/>
              </a:rPr>
              <a:t>Future Scope &amp; Enhancements</a:t>
            </a:r>
          </a:p>
        </p:txBody>
      </p:sp>
      <p:sp>
        <p:nvSpPr>
          <p:cNvPr id="19" name="TextBox 18"/>
          <p:cNvSpPr txBox="1"/>
          <p:nvPr/>
        </p:nvSpPr>
        <p:spPr>
          <a:xfrm>
            <a:off x="742950" y="5414962"/>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20" name="TextBox 19"/>
          <p:cNvSpPr txBox="1"/>
          <p:nvPr/>
        </p:nvSpPr>
        <p:spPr>
          <a:xfrm>
            <a:off x="819150" y="5414962"/>
            <a:ext cx="5038725" cy="314325"/>
          </a:xfrm>
          <a:prstGeom prst="rect">
            <a:avLst/>
          </a:prstGeom>
          <a:noFill/>
        </p:spPr>
        <p:txBody>
          <a:bodyPr wrap="square" lIns="76200" tIns="0" rIns="0" bIns="0" anchor="t">
            <a:spAutoFit/>
          </a:bodyPr>
          <a:lstStyle/>
          <a:p>
            <a:pPr algn="l">
              <a:lnSpc>
                <a:spcPts val="2475"/>
              </a:lnSpc>
            </a:pPr>
            <a:r>
              <a:rPr sz="1650" b="0" i="0" u="none">
                <a:solidFill>
                  <a:srgbClr val="000000"/>
                </a:solidFill>
                <a:latin typeface="Times New Roman"/>
              </a:rPr>
              <a:t>References</a:t>
            </a:r>
          </a:p>
        </p:txBody>
      </p:sp>
      <p:pic>
        <p:nvPicPr>
          <p:cNvPr id="21" name="Picture 20" descr="image.png"/>
          <p:cNvPicPr>
            <a:picLocks noChangeAspect="1"/>
          </p:cNvPicPr>
          <p:nvPr/>
        </p:nvPicPr>
        <p:blipFill>
          <a:blip r:embed="rId3"/>
          <a:stretch>
            <a:fillRect/>
          </a:stretch>
        </p:blipFill>
        <p:spPr>
          <a:xfrm>
            <a:off x="6343650" y="1766887"/>
            <a:ext cx="5257800" cy="4267200"/>
          </a:xfrm>
          <a:prstGeom prst="rect">
            <a:avLst/>
          </a:prstGeom>
        </p:spPr>
      </p:pic>
      <p:sp>
        <p:nvSpPr>
          <p:cNvPr id="22" name="TextBox 21"/>
          <p:cNvSpPr txBox="1"/>
          <p:nvPr/>
        </p:nvSpPr>
        <p:spPr>
          <a:xfrm>
            <a:off x="581025" y="581025"/>
            <a:ext cx="11581447" cy="466725"/>
          </a:xfrm>
          <a:prstGeom prst="rect">
            <a:avLst/>
          </a:prstGeom>
          <a:noFill/>
        </p:spPr>
        <p:txBody>
          <a:bodyPr wrap="square" lIns="0" tIns="0" rIns="0" bIns="0" anchor="t">
            <a:spAutoFit/>
          </a:bodyPr>
          <a:lstStyle/>
          <a:p>
            <a:pPr algn="l"/>
            <a:r>
              <a:rPr sz="3000" b="1" i="0" u="none">
                <a:solidFill>
                  <a:srgbClr val="000000"/>
                </a:solidFill>
                <a:latin typeface="Times New Roman"/>
              </a:rPr>
              <a:t>Table of Contents</a:t>
            </a:r>
          </a:p>
        </p:txBody>
      </p:sp>
      <p:sp>
        <p:nvSpPr>
          <p:cNvPr id="23" name="Rectangle 22"/>
          <p:cNvSpPr/>
          <p:nvPr/>
        </p:nvSpPr>
        <p:spPr>
          <a:xfrm>
            <a:off x="581025" y="1123950"/>
            <a:ext cx="11029950"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334125" y="1757362"/>
            <a:ext cx="5276850" cy="4286250"/>
          </a:xfrm>
          <a:prstGeom prst="rect">
            <a:avLst/>
          </a:prstGeom>
        </p:spPr>
      </p:pic>
      <p:sp>
        <p:nvSpPr>
          <p:cNvPr id="3" name="TextBox 2"/>
          <p:cNvSpPr txBox="1"/>
          <p:nvPr/>
        </p:nvSpPr>
        <p:spPr>
          <a:xfrm>
            <a:off x="581025" y="1757362"/>
            <a:ext cx="5276850" cy="942975"/>
          </a:xfrm>
          <a:prstGeom prst="rect">
            <a:avLst/>
          </a:prstGeom>
          <a:noFill/>
        </p:spPr>
        <p:txBody>
          <a:bodyPr wrap="square" lIns="0" tIns="0" rIns="0" bIns="0" anchor="t">
            <a:spAutoFit/>
          </a:bodyPr>
          <a:lstStyle/>
          <a:p>
            <a:pPr algn="l">
              <a:lnSpc>
                <a:spcPts val="2475"/>
              </a:lnSpc>
            </a:pPr>
            <a:r>
              <a:rPr sz="1650" b="1" i="0" u="none">
                <a:solidFill>
                  <a:srgbClr val="000000"/>
                </a:solidFill>
                <a:latin typeface="Times New Roman"/>
              </a:rPr>
              <a:t>Hestia</a:t>
            </a:r>
            <a:r>
              <a:rPr sz="1650" b="0" i="0" u="none">
                <a:solidFill>
                  <a:srgbClr val="000000"/>
                </a:solidFill>
                <a:latin typeface="Times New Roman"/>
              </a:rPr>
              <a:t> is a secure digital platform designed to bridge the gap between graduating students, educational institutions, and recruiters.</a:t>
            </a:r>
          </a:p>
        </p:txBody>
      </p:sp>
      <p:sp>
        <p:nvSpPr>
          <p:cNvPr id="4" name="TextBox 3"/>
          <p:cNvSpPr txBox="1"/>
          <p:nvPr/>
        </p:nvSpPr>
        <p:spPr>
          <a:xfrm>
            <a:off x="581025" y="2843212"/>
            <a:ext cx="5276850" cy="1257300"/>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According to ancient Greek Mythology, Hestia is the Goddess of Hearth, Home, and the Sacred Fire. She was the divine guardian of household prosperity, with her sacred hearth fire serving as a barometer for well-being and abundance.</a:t>
            </a:r>
          </a:p>
        </p:txBody>
      </p:sp>
      <p:sp>
        <p:nvSpPr>
          <p:cNvPr id="5" name="TextBox 4"/>
          <p:cNvSpPr txBox="1"/>
          <p:nvPr/>
        </p:nvSpPr>
        <p:spPr>
          <a:xfrm>
            <a:off x="581025" y="4243387"/>
            <a:ext cx="5276850" cy="628650"/>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Our platform embodies this by acting as the secure hearth and guardian for student credentials.</a:t>
            </a:r>
          </a:p>
        </p:txBody>
      </p:sp>
      <p:sp>
        <p:nvSpPr>
          <p:cNvPr id="7" name="TextBox 6"/>
          <p:cNvSpPr txBox="1"/>
          <p:nvPr/>
        </p:nvSpPr>
        <p:spPr>
          <a:xfrm>
            <a:off x="581025" y="581025"/>
            <a:ext cx="11581447" cy="466725"/>
          </a:xfrm>
          <a:prstGeom prst="rect">
            <a:avLst/>
          </a:prstGeom>
          <a:noFill/>
        </p:spPr>
        <p:txBody>
          <a:bodyPr wrap="square" lIns="0" tIns="0" rIns="0" bIns="0" anchor="t">
            <a:spAutoFit/>
          </a:bodyPr>
          <a:lstStyle/>
          <a:p>
            <a:pPr algn="l"/>
            <a:r>
              <a:rPr sz="3000" b="1" i="0" u="none">
                <a:solidFill>
                  <a:srgbClr val="000000"/>
                </a:solidFill>
                <a:latin typeface="Times New Roman"/>
              </a:rPr>
              <a:t>Introduction: What is Hestia?</a:t>
            </a:r>
          </a:p>
        </p:txBody>
      </p:sp>
      <p:sp>
        <p:nvSpPr>
          <p:cNvPr id="8" name="Rectangle 7"/>
          <p:cNvSpPr/>
          <p:nvPr/>
        </p:nvSpPr>
        <p:spPr>
          <a:xfrm>
            <a:off x="581025" y="1123950"/>
            <a:ext cx="11029950"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a:extLst>
              <a:ext uri="{FF2B5EF4-FFF2-40B4-BE49-F238E27FC236}">
                <a16:creationId xmlns:a16="http://schemas.microsoft.com/office/drawing/2014/main" id="{0DEF3225-A7CA-4227-411B-E4136DAA820E}"/>
              </a:ext>
            </a:extLst>
          </p:cNvPr>
          <p:cNvPicPr>
            <a:picLocks noChangeAspect="1"/>
          </p:cNvPicPr>
          <p:nvPr/>
        </p:nvPicPr>
        <p:blipFill>
          <a:blip r:embed="rId3"/>
          <a:srcRect/>
          <a:stretch/>
        </p:blipFill>
        <p:spPr>
          <a:xfrm>
            <a:off x="6334125" y="2141537"/>
            <a:ext cx="5276850" cy="35179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81025" y="1895475"/>
            <a:ext cx="3422600" cy="4010025"/>
          </a:xfrm>
          <a:prstGeom prst="rect">
            <a:avLst/>
          </a:prstGeom>
        </p:spPr>
      </p:pic>
      <p:pic>
        <p:nvPicPr>
          <p:cNvPr id="3" name="Picture 2" descr="image.png"/>
          <p:cNvPicPr>
            <a:picLocks noChangeAspect="1"/>
          </p:cNvPicPr>
          <p:nvPr/>
        </p:nvPicPr>
        <p:blipFill>
          <a:blip r:embed="rId2"/>
          <a:stretch>
            <a:fillRect/>
          </a:stretch>
        </p:blipFill>
        <p:spPr>
          <a:xfrm>
            <a:off x="4384625" y="1895475"/>
            <a:ext cx="3422600" cy="4010025"/>
          </a:xfrm>
          <a:prstGeom prst="rect">
            <a:avLst/>
          </a:prstGeom>
        </p:spPr>
      </p:pic>
      <p:pic>
        <p:nvPicPr>
          <p:cNvPr id="4" name="Picture 3" descr="image.png"/>
          <p:cNvPicPr>
            <a:picLocks noChangeAspect="1"/>
          </p:cNvPicPr>
          <p:nvPr/>
        </p:nvPicPr>
        <p:blipFill>
          <a:blip r:embed="rId2"/>
          <a:stretch>
            <a:fillRect/>
          </a:stretch>
        </p:blipFill>
        <p:spPr>
          <a:xfrm>
            <a:off x="8188225" y="1895475"/>
            <a:ext cx="3422600" cy="4010025"/>
          </a:xfrm>
          <a:prstGeom prst="rect">
            <a:avLst/>
          </a:prstGeom>
        </p:spPr>
      </p:pic>
      <p:sp>
        <p:nvSpPr>
          <p:cNvPr id="5" name="TextBox 4"/>
          <p:cNvSpPr txBox="1"/>
          <p:nvPr/>
        </p:nvSpPr>
        <p:spPr>
          <a:xfrm>
            <a:off x="876300" y="2828925"/>
            <a:ext cx="2973652" cy="609600"/>
          </a:xfrm>
          <a:prstGeom prst="rect">
            <a:avLst/>
          </a:prstGeom>
          <a:noFill/>
        </p:spPr>
        <p:txBody>
          <a:bodyPr wrap="square" lIns="0" tIns="0" rIns="0" bIns="0" anchor="t">
            <a:spAutoFit/>
          </a:bodyPr>
          <a:lstStyle/>
          <a:p>
            <a:pPr algn="l"/>
            <a:r>
              <a:rPr sz="2100" b="1" i="0" u="none">
                <a:solidFill>
                  <a:srgbClr val="000000"/>
                </a:solidFill>
                <a:latin typeface="Times New Roman"/>
              </a:rPr>
              <a:t>A Trusted Credential Vault</a:t>
            </a:r>
          </a:p>
        </p:txBody>
      </p:sp>
      <p:sp>
        <p:nvSpPr>
          <p:cNvPr id="6" name="TextBox 5"/>
          <p:cNvSpPr txBox="1"/>
          <p:nvPr/>
        </p:nvSpPr>
        <p:spPr>
          <a:xfrm>
            <a:off x="876300" y="3581400"/>
            <a:ext cx="2832050" cy="15716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Allows students to store and present verified academic records (degrees, marksheets, transcripts) without risking document tampering.</a:t>
            </a:r>
          </a:p>
        </p:txBody>
      </p:sp>
      <p:sp>
        <p:nvSpPr>
          <p:cNvPr id="7" name="TextBox 6"/>
          <p:cNvSpPr txBox="1"/>
          <p:nvPr/>
        </p:nvSpPr>
        <p:spPr>
          <a:xfrm>
            <a:off x="4679900" y="2828925"/>
            <a:ext cx="2973652" cy="609600"/>
          </a:xfrm>
          <a:prstGeom prst="rect">
            <a:avLst/>
          </a:prstGeom>
          <a:noFill/>
        </p:spPr>
        <p:txBody>
          <a:bodyPr wrap="square" lIns="0" tIns="0" rIns="0" bIns="0" anchor="t">
            <a:spAutoFit/>
          </a:bodyPr>
          <a:lstStyle/>
          <a:p>
            <a:pPr algn="l"/>
            <a:r>
              <a:rPr sz="2100" b="1" i="0" u="none">
                <a:solidFill>
                  <a:srgbClr val="000000"/>
                </a:solidFill>
                <a:latin typeface="Times New Roman"/>
              </a:rPr>
              <a:t>Instant Verification Engine</a:t>
            </a:r>
          </a:p>
        </p:txBody>
      </p:sp>
      <p:sp>
        <p:nvSpPr>
          <p:cNvPr id="8" name="TextBox 7"/>
          <p:cNvSpPr txBox="1"/>
          <p:nvPr/>
        </p:nvSpPr>
        <p:spPr>
          <a:xfrm>
            <a:off x="4679900" y="3581400"/>
            <a:ext cx="2832050" cy="1885950"/>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Replaces slow manual HR background checks with automated 3-tier digital verification (Domain check, QR PKI signatures, and PDF metadata audit).</a:t>
            </a:r>
          </a:p>
        </p:txBody>
      </p:sp>
      <p:sp>
        <p:nvSpPr>
          <p:cNvPr id="9" name="TextBox 8"/>
          <p:cNvSpPr txBox="1"/>
          <p:nvPr/>
        </p:nvSpPr>
        <p:spPr>
          <a:xfrm>
            <a:off x="8483500" y="2828925"/>
            <a:ext cx="2913957" cy="304800"/>
          </a:xfrm>
          <a:prstGeom prst="rect">
            <a:avLst/>
          </a:prstGeom>
          <a:noFill/>
        </p:spPr>
        <p:txBody>
          <a:bodyPr wrap="square" lIns="0" tIns="0" rIns="0" bIns="0" anchor="t">
            <a:spAutoFit/>
          </a:bodyPr>
          <a:lstStyle/>
          <a:p>
            <a:pPr algn="l"/>
            <a:r>
              <a:rPr sz="2100" b="1" i="0" u="none">
                <a:solidFill>
                  <a:srgbClr val="000000"/>
                </a:solidFill>
                <a:latin typeface="Times New Roman"/>
              </a:rPr>
              <a:t>Smart Career Evaluator</a:t>
            </a:r>
          </a:p>
        </p:txBody>
      </p:sp>
      <p:sp>
        <p:nvSpPr>
          <p:cNvPr id="10" name="TextBox 9"/>
          <p:cNvSpPr txBox="1"/>
          <p:nvPr/>
        </p:nvSpPr>
        <p:spPr>
          <a:xfrm>
            <a:off x="8483500" y="3276600"/>
            <a:ext cx="2832050" cy="1257300"/>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Matches verified student academic profiles directly with employer job criteria to show real eligibility.</a:t>
            </a:r>
          </a:p>
        </p:txBody>
      </p:sp>
      <p:pic>
        <p:nvPicPr>
          <p:cNvPr id="11" name="Picture 10" descr="image.png"/>
          <p:cNvPicPr>
            <a:picLocks noChangeAspect="1"/>
          </p:cNvPicPr>
          <p:nvPr/>
        </p:nvPicPr>
        <p:blipFill>
          <a:blip r:embed="rId3"/>
          <a:stretch>
            <a:fillRect/>
          </a:stretch>
        </p:blipFill>
        <p:spPr>
          <a:xfrm>
            <a:off x="876300" y="2209800"/>
            <a:ext cx="428625" cy="381000"/>
          </a:xfrm>
          <a:prstGeom prst="rect">
            <a:avLst/>
          </a:prstGeom>
        </p:spPr>
      </p:pic>
      <p:pic>
        <p:nvPicPr>
          <p:cNvPr id="12" name="Picture 11" descr="image.png"/>
          <p:cNvPicPr>
            <a:picLocks noChangeAspect="1"/>
          </p:cNvPicPr>
          <p:nvPr/>
        </p:nvPicPr>
        <p:blipFill>
          <a:blip r:embed="rId4"/>
          <a:stretch>
            <a:fillRect/>
          </a:stretch>
        </p:blipFill>
        <p:spPr>
          <a:xfrm>
            <a:off x="4679900" y="2209800"/>
            <a:ext cx="381000" cy="381000"/>
          </a:xfrm>
          <a:prstGeom prst="rect">
            <a:avLst/>
          </a:prstGeom>
        </p:spPr>
      </p:pic>
      <p:pic>
        <p:nvPicPr>
          <p:cNvPr id="13" name="Picture 12" descr="image.png"/>
          <p:cNvPicPr>
            <a:picLocks noChangeAspect="1"/>
          </p:cNvPicPr>
          <p:nvPr/>
        </p:nvPicPr>
        <p:blipFill>
          <a:blip r:embed="rId5"/>
          <a:stretch>
            <a:fillRect/>
          </a:stretch>
        </p:blipFill>
        <p:spPr>
          <a:xfrm>
            <a:off x="8483500" y="2209800"/>
            <a:ext cx="381000" cy="381000"/>
          </a:xfrm>
          <a:prstGeom prst="rect">
            <a:avLst/>
          </a:prstGeom>
        </p:spPr>
      </p:pic>
      <p:sp>
        <p:nvSpPr>
          <p:cNvPr id="14" name="TextBox 13"/>
          <p:cNvSpPr txBox="1"/>
          <p:nvPr/>
        </p:nvSpPr>
        <p:spPr>
          <a:xfrm>
            <a:off x="581025" y="581025"/>
            <a:ext cx="11581447" cy="466725"/>
          </a:xfrm>
          <a:prstGeom prst="rect">
            <a:avLst/>
          </a:prstGeom>
          <a:noFill/>
        </p:spPr>
        <p:txBody>
          <a:bodyPr wrap="square" lIns="0" tIns="0" rIns="0" bIns="0" anchor="t">
            <a:spAutoFit/>
          </a:bodyPr>
          <a:lstStyle/>
          <a:p>
            <a:pPr algn="l"/>
            <a:r>
              <a:rPr sz="3000" b="1" i="0" u="none">
                <a:solidFill>
                  <a:srgbClr val="000000"/>
                </a:solidFill>
                <a:latin typeface="Times New Roman"/>
              </a:rPr>
              <a:t>Core Vision &amp; Idea</a:t>
            </a:r>
          </a:p>
        </p:txBody>
      </p:sp>
      <p:sp>
        <p:nvSpPr>
          <p:cNvPr id="15" name="Rectangle 14"/>
          <p:cNvSpPr/>
          <p:nvPr/>
        </p:nvSpPr>
        <p:spPr>
          <a:xfrm>
            <a:off x="581025" y="1123950"/>
            <a:ext cx="11029950"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238250" y="2262187"/>
            <a:ext cx="10096500" cy="628650"/>
          </a:xfrm>
          <a:prstGeom prst="rect">
            <a:avLst/>
          </a:prstGeom>
          <a:noFill/>
        </p:spPr>
        <p:txBody>
          <a:bodyPr wrap="square" lIns="0" tIns="0" rIns="0" bIns="0" anchor="t">
            <a:spAutoFit/>
          </a:bodyPr>
          <a:lstStyle/>
          <a:p>
            <a:pPr algn="l">
              <a:lnSpc>
                <a:spcPts val="2475"/>
              </a:lnSpc>
            </a:pPr>
            <a:r>
              <a:rPr sz="1650" b="1" i="0" u="none">
                <a:solidFill>
                  <a:srgbClr val="000000"/>
                </a:solidFill>
                <a:latin typeface="Times New Roman"/>
              </a:rPr>
              <a:t>Architecture:</a:t>
            </a:r>
            <a:r>
              <a:rPr sz="1650" b="0" i="0" u="none">
                <a:solidFill>
                  <a:srgbClr val="000000"/>
                </a:solidFill>
                <a:latin typeface="Times New Roman"/>
              </a:rPr>
              <a:t> Hestia is an object-oriented, secure academic record verification and career evaluation platform designed to eliminate credential fraud and streamline job eligibility matching.</a:t>
            </a:r>
          </a:p>
        </p:txBody>
      </p:sp>
      <p:sp>
        <p:nvSpPr>
          <p:cNvPr id="3" name="TextBox 2"/>
          <p:cNvSpPr txBox="1"/>
          <p:nvPr/>
        </p:nvSpPr>
        <p:spPr>
          <a:xfrm>
            <a:off x="1238250" y="3081337"/>
            <a:ext cx="10096500" cy="314325"/>
          </a:xfrm>
          <a:prstGeom prst="rect">
            <a:avLst/>
          </a:prstGeom>
          <a:noFill/>
        </p:spPr>
        <p:txBody>
          <a:bodyPr wrap="square" lIns="0" tIns="0" rIns="0" bIns="0" anchor="t">
            <a:spAutoFit/>
          </a:bodyPr>
          <a:lstStyle/>
          <a:p>
            <a:pPr algn="l">
              <a:lnSpc>
                <a:spcPts val="2475"/>
              </a:lnSpc>
            </a:pPr>
            <a:r>
              <a:rPr sz="1650" b="1" i="0" u="none">
                <a:solidFill>
                  <a:srgbClr val="000000"/>
                </a:solidFill>
                <a:latin typeface="Times New Roman"/>
              </a:rPr>
              <a:t>Technology Stack:</a:t>
            </a:r>
            <a:r>
              <a:rPr sz="1650" b="0" i="0" u="none">
                <a:solidFill>
                  <a:srgbClr val="000000"/>
                </a:solidFill>
                <a:latin typeface="Times New Roman"/>
              </a:rPr>
              <a:t> Built using Java 21, Spring Boot, and PostgreSQL/H2.</a:t>
            </a:r>
          </a:p>
        </p:txBody>
      </p:sp>
      <p:sp>
        <p:nvSpPr>
          <p:cNvPr id="4" name="TextBox 3"/>
          <p:cNvSpPr txBox="1"/>
          <p:nvPr/>
        </p:nvSpPr>
        <p:spPr>
          <a:xfrm>
            <a:off x="1238250" y="3586162"/>
            <a:ext cx="10096500" cy="628650"/>
          </a:xfrm>
          <a:prstGeom prst="rect">
            <a:avLst/>
          </a:prstGeom>
          <a:noFill/>
        </p:spPr>
        <p:txBody>
          <a:bodyPr wrap="square" lIns="0" tIns="0" rIns="0" bIns="0" anchor="t">
            <a:spAutoFit/>
          </a:bodyPr>
          <a:lstStyle/>
          <a:p>
            <a:pPr algn="l">
              <a:lnSpc>
                <a:spcPts val="2475"/>
              </a:lnSpc>
            </a:pPr>
            <a:r>
              <a:rPr sz="1650" b="1" i="0" u="none">
                <a:solidFill>
                  <a:srgbClr val="000000"/>
                </a:solidFill>
                <a:latin typeface="Times New Roman"/>
              </a:rPr>
              <a:t>OOP Paradigms:</a:t>
            </a:r>
            <a:r>
              <a:rPr sz="1650" b="0" i="0" u="none">
                <a:solidFill>
                  <a:srgbClr val="000000"/>
                </a:solidFill>
                <a:latin typeface="Times New Roman"/>
              </a:rPr>
              <a:t> Leverages foundational Object-Oriented Programming (OOP) paradigms including Abstraction, Encapsulation, Inheritance, and Polymorphism alongside design patterns like the Facade Pattern.</a:t>
            </a:r>
          </a:p>
        </p:txBody>
      </p:sp>
      <p:sp>
        <p:nvSpPr>
          <p:cNvPr id="5" name="TextBox 4"/>
          <p:cNvSpPr txBox="1"/>
          <p:nvPr/>
        </p:nvSpPr>
        <p:spPr>
          <a:xfrm>
            <a:off x="1238250" y="4405312"/>
            <a:ext cx="10096500" cy="942975"/>
          </a:xfrm>
          <a:prstGeom prst="rect">
            <a:avLst/>
          </a:prstGeom>
          <a:noFill/>
        </p:spPr>
        <p:txBody>
          <a:bodyPr wrap="square" lIns="0" tIns="0" rIns="0" bIns="0" anchor="t">
            <a:spAutoFit/>
          </a:bodyPr>
          <a:lstStyle/>
          <a:p>
            <a:pPr algn="l">
              <a:lnSpc>
                <a:spcPts val="2475"/>
              </a:lnSpc>
            </a:pPr>
            <a:r>
              <a:rPr sz="1650" b="1" i="0" u="none">
                <a:solidFill>
                  <a:srgbClr val="000000"/>
                </a:solidFill>
                <a:latin typeface="Times New Roman"/>
              </a:rPr>
              <a:t>Current Status (60% Progress):</a:t>
            </a:r>
            <a:r>
              <a:rPr sz="1650" b="0" i="0" u="none">
                <a:solidFill>
                  <a:srgbClr val="000000"/>
                </a:solidFill>
                <a:latin typeface="Times New Roman"/>
              </a:rPr>
              <a:t> Modules 1, 2, and 3 are 100% complete, providing robust user authentication, multi-tier automated document verification, and secure academic credential vault management. Module 4 (AI Job Evaluation) is in development.</a:t>
            </a:r>
          </a:p>
        </p:txBody>
      </p:sp>
      <p:pic>
        <p:nvPicPr>
          <p:cNvPr id="6" name="Picture 5" descr="image.png"/>
          <p:cNvPicPr>
            <a:picLocks noChangeAspect="1"/>
          </p:cNvPicPr>
          <p:nvPr/>
        </p:nvPicPr>
        <p:blipFill>
          <a:blip r:embed="rId2"/>
          <a:stretch>
            <a:fillRect/>
          </a:stretch>
        </p:blipFill>
        <p:spPr>
          <a:xfrm>
            <a:off x="857250" y="2314575"/>
            <a:ext cx="171450" cy="200025"/>
          </a:xfrm>
          <a:prstGeom prst="rect">
            <a:avLst/>
          </a:prstGeom>
        </p:spPr>
      </p:pic>
      <p:pic>
        <p:nvPicPr>
          <p:cNvPr id="7" name="Picture 6" descr="image.png"/>
          <p:cNvPicPr>
            <a:picLocks noChangeAspect="1"/>
          </p:cNvPicPr>
          <p:nvPr/>
        </p:nvPicPr>
        <p:blipFill>
          <a:blip r:embed="rId2"/>
          <a:stretch>
            <a:fillRect/>
          </a:stretch>
        </p:blipFill>
        <p:spPr>
          <a:xfrm>
            <a:off x="857250" y="3133725"/>
            <a:ext cx="171450" cy="200025"/>
          </a:xfrm>
          <a:prstGeom prst="rect">
            <a:avLst/>
          </a:prstGeom>
        </p:spPr>
      </p:pic>
      <p:pic>
        <p:nvPicPr>
          <p:cNvPr id="8" name="Picture 7" descr="image.png"/>
          <p:cNvPicPr>
            <a:picLocks noChangeAspect="1"/>
          </p:cNvPicPr>
          <p:nvPr/>
        </p:nvPicPr>
        <p:blipFill>
          <a:blip r:embed="rId2"/>
          <a:stretch>
            <a:fillRect/>
          </a:stretch>
        </p:blipFill>
        <p:spPr>
          <a:xfrm>
            <a:off x="857250" y="3638550"/>
            <a:ext cx="171450" cy="200025"/>
          </a:xfrm>
          <a:prstGeom prst="rect">
            <a:avLst/>
          </a:prstGeom>
        </p:spPr>
      </p:pic>
      <p:pic>
        <p:nvPicPr>
          <p:cNvPr id="9" name="Picture 8" descr="image.png"/>
          <p:cNvPicPr>
            <a:picLocks noChangeAspect="1"/>
          </p:cNvPicPr>
          <p:nvPr/>
        </p:nvPicPr>
        <p:blipFill>
          <a:blip r:embed="rId2"/>
          <a:stretch>
            <a:fillRect/>
          </a:stretch>
        </p:blipFill>
        <p:spPr>
          <a:xfrm>
            <a:off x="857250" y="4457700"/>
            <a:ext cx="171450" cy="200025"/>
          </a:xfrm>
          <a:prstGeom prst="rect">
            <a:avLst/>
          </a:prstGeom>
        </p:spPr>
      </p:pic>
      <p:sp>
        <p:nvSpPr>
          <p:cNvPr id="10" name="TextBox 9"/>
          <p:cNvSpPr txBox="1"/>
          <p:nvPr/>
        </p:nvSpPr>
        <p:spPr>
          <a:xfrm>
            <a:off x="581025" y="581025"/>
            <a:ext cx="11581447" cy="466725"/>
          </a:xfrm>
          <a:prstGeom prst="rect">
            <a:avLst/>
          </a:prstGeom>
          <a:noFill/>
        </p:spPr>
        <p:txBody>
          <a:bodyPr wrap="square" lIns="0" tIns="0" rIns="0" bIns="0" anchor="t">
            <a:spAutoFit/>
          </a:bodyPr>
          <a:lstStyle/>
          <a:p>
            <a:pPr algn="l"/>
            <a:r>
              <a:rPr sz="3000" b="1" i="0" u="none">
                <a:solidFill>
                  <a:srgbClr val="000000"/>
                </a:solidFill>
                <a:latin typeface="Times New Roman"/>
              </a:rPr>
              <a:t>Abstract</a:t>
            </a:r>
          </a:p>
        </p:txBody>
      </p:sp>
      <p:sp>
        <p:nvSpPr>
          <p:cNvPr id="11" name="Rectangle 10"/>
          <p:cNvSpPr/>
          <p:nvPr/>
        </p:nvSpPr>
        <p:spPr>
          <a:xfrm>
            <a:off x="581025" y="1123950"/>
            <a:ext cx="11029950"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19750" y="2547937"/>
            <a:ext cx="952500" cy="28575"/>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98410" y="2862262"/>
            <a:ext cx="8995030" cy="657225"/>
          </a:xfrm>
          <a:prstGeom prst="rect">
            <a:avLst/>
          </a:prstGeom>
          <a:noFill/>
        </p:spPr>
        <p:txBody>
          <a:bodyPr wrap="square" lIns="0" tIns="0" rIns="0" bIns="0" anchor="t">
            <a:spAutoFit/>
          </a:bodyPr>
          <a:lstStyle/>
          <a:p>
            <a:pPr algn="ctr"/>
            <a:r>
              <a:rPr sz="4500" b="1" i="0" u="none">
                <a:solidFill>
                  <a:srgbClr val="000000"/>
                </a:solidFill>
                <a:latin typeface="Times New Roman"/>
              </a:rPr>
              <a:t>Introduction &amp; Problem Statement</a:t>
            </a:r>
          </a:p>
        </p:txBody>
      </p:sp>
      <p:sp>
        <p:nvSpPr>
          <p:cNvPr id="4" name="TextBox 3"/>
          <p:cNvSpPr txBox="1"/>
          <p:nvPr/>
        </p:nvSpPr>
        <p:spPr>
          <a:xfrm>
            <a:off x="1809750" y="3709987"/>
            <a:ext cx="8572500" cy="742950"/>
          </a:xfrm>
          <a:prstGeom prst="rect">
            <a:avLst/>
          </a:prstGeom>
          <a:noFill/>
        </p:spPr>
        <p:txBody>
          <a:bodyPr wrap="square" lIns="0" tIns="0" rIns="0" bIns="0" anchor="t">
            <a:spAutoFit/>
          </a:bodyPr>
          <a:lstStyle/>
          <a:p>
            <a:pPr algn="ctr">
              <a:lnSpc>
                <a:spcPts val="2925"/>
              </a:lnSpc>
            </a:pPr>
            <a:r>
              <a:rPr sz="1950" b="0" i="0" u="none">
                <a:solidFill>
                  <a:srgbClr val="000000"/>
                </a:solidFill>
                <a:latin typeface="Times New Roman"/>
              </a:rPr>
              <a:t>Educational institutions and recruiters lack an instant, automated mechanism to verify student records and certificates.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57250" y="1852612"/>
            <a:ext cx="11001375" cy="304800"/>
          </a:xfrm>
          <a:prstGeom prst="rect">
            <a:avLst/>
          </a:prstGeom>
          <a:noFill/>
        </p:spPr>
        <p:txBody>
          <a:bodyPr wrap="square" lIns="0" tIns="0" rIns="0" bIns="0" anchor="t">
            <a:spAutoFit/>
          </a:bodyPr>
          <a:lstStyle/>
          <a:p>
            <a:pPr algn="l"/>
            <a:r>
              <a:rPr sz="2100" b="1" i="0" u="none">
                <a:solidFill>
                  <a:srgbClr val="000000"/>
                </a:solidFill>
                <a:latin typeface="Times New Roman"/>
              </a:rPr>
              <a:t>Key Challenges</a:t>
            </a:r>
          </a:p>
        </p:txBody>
      </p:sp>
      <p:sp>
        <p:nvSpPr>
          <p:cNvPr id="3" name="TextBox 2"/>
          <p:cNvSpPr txBox="1"/>
          <p:nvPr/>
        </p:nvSpPr>
        <p:spPr>
          <a:xfrm>
            <a:off x="857250" y="3986212"/>
            <a:ext cx="11001375" cy="304800"/>
          </a:xfrm>
          <a:prstGeom prst="rect">
            <a:avLst/>
          </a:prstGeom>
          <a:noFill/>
        </p:spPr>
        <p:txBody>
          <a:bodyPr wrap="square" lIns="0" tIns="0" rIns="0" bIns="0" anchor="t">
            <a:spAutoFit/>
          </a:bodyPr>
          <a:lstStyle/>
          <a:p>
            <a:pPr algn="l"/>
            <a:r>
              <a:rPr sz="2100" b="1" i="0" u="none">
                <a:solidFill>
                  <a:srgbClr val="000000"/>
                </a:solidFill>
                <a:latin typeface="Times New Roman"/>
              </a:rPr>
              <a:t>Project Objectives</a:t>
            </a:r>
          </a:p>
        </p:txBody>
      </p:sp>
      <p:sp>
        <p:nvSpPr>
          <p:cNvPr id="4" name="TextBox 3"/>
          <p:cNvSpPr txBox="1"/>
          <p:nvPr/>
        </p:nvSpPr>
        <p:spPr>
          <a:xfrm>
            <a:off x="1238250" y="2300287"/>
            <a:ext cx="10096500" cy="3143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PDF document tampering and fraudulent marksheets.</a:t>
            </a:r>
          </a:p>
        </p:txBody>
      </p:sp>
      <p:sp>
        <p:nvSpPr>
          <p:cNvPr id="5" name="TextBox 4"/>
          <p:cNvSpPr txBox="1"/>
          <p:nvPr/>
        </p:nvSpPr>
        <p:spPr>
          <a:xfrm>
            <a:off x="1238250" y="2805112"/>
            <a:ext cx="10096500" cy="3143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Inefficient manual background checks by HR departments.</a:t>
            </a:r>
          </a:p>
        </p:txBody>
      </p:sp>
      <p:sp>
        <p:nvSpPr>
          <p:cNvPr id="6" name="TextBox 5"/>
          <p:cNvSpPr txBox="1"/>
          <p:nvPr/>
        </p:nvSpPr>
        <p:spPr>
          <a:xfrm>
            <a:off x="1238250" y="3309937"/>
            <a:ext cx="10096500" cy="3143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Lack of secure, consolidated student credential vaults.</a:t>
            </a:r>
          </a:p>
        </p:txBody>
      </p:sp>
      <p:sp>
        <p:nvSpPr>
          <p:cNvPr id="7" name="TextBox 6"/>
          <p:cNvSpPr txBox="1"/>
          <p:nvPr/>
        </p:nvSpPr>
        <p:spPr>
          <a:xfrm>
            <a:off x="1238250" y="4433887"/>
            <a:ext cx="10096500" cy="3143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Build a secure, scalable OOP-based system for credential management.</a:t>
            </a:r>
          </a:p>
        </p:txBody>
      </p:sp>
      <p:sp>
        <p:nvSpPr>
          <p:cNvPr id="8" name="TextBox 7"/>
          <p:cNvSpPr txBox="1"/>
          <p:nvPr/>
        </p:nvSpPr>
        <p:spPr>
          <a:xfrm>
            <a:off x="1238250" y="4938712"/>
            <a:ext cx="10096500" cy="3143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Implement multi-tier automated verification.</a:t>
            </a:r>
          </a:p>
        </p:txBody>
      </p:sp>
      <p:sp>
        <p:nvSpPr>
          <p:cNvPr id="9" name="TextBox 8"/>
          <p:cNvSpPr txBox="1"/>
          <p:nvPr/>
        </p:nvSpPr>
        <p:spPr>
          <a:xfrm>
            <a:off x="1238250" y="5443537"/>
            <a:ext cx="10096500" cy="3143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Prepare an intelligent job eligibility evaluation pipeline.</a:t>
            </a:r>
          </a:p>
        </p:txBody>
      </p:sp>
      <p:pic>
        <p:nvPicPr>
          <p:cNvPr id="10" name="Picture 9" descr="image.png"/>
          <p:cNvPicPr>
            <a:picLocks noChangeAspect="1"/>
          </p:cNvPicPr>
          <p:nvPr/>
        </p:nvPicPr>
        <p:blipFill>
          <a:blip r:embed="rId2"/>
          <a:stretch>
            <a:fillRect/>
          </a:stretch>
        </p:blipFill>
        <p:spPr>
          <a:xfrm>
            <a:off x="857250" y="2352675"/>
            <a:ext cx="190500" cy="200025"/>
          </a:xfrm>
          <a:prstGeom prst="rect">
            <a:avLst/>
          </a:prstGeom>
        </p:spPr>
      </p:pic>
      <p:pic>
        <p:nvPicPr>
          <p:cNvPr id="11" name="Picture 10" descr="image.png"/>
          <p:cNvPicPr>
            <a:picLocks noChangeAspect="1"/>
          </p:cNvPicPr>
          <p:nvPr/>
        </p:nvPicPr>
        <p:blipFill>
          <a:blip r:embed="rId3"/>
          <a:stretch>
            <a:fillRect/>
          </a:stretch>
        </p:blipFill>
        <p:spPr>
          <a:xfrm>
            <a:off x="857250" y="2857500"/>
            <a:ext cx="190500" cy="200025"/>
          </a:xfrm>
          <a:prstGeom prst="rect">
            <a:avLst/>
          </a:prstGeom>
        </p:spPr>
      </p:pic>
      <p:pic>
        <p:nvPicPr>
          <p:cNvPr id="12" name="Picture 11" descr="image.png"/>
          <p:cNvPicPr>
            <a:picLocks noChangeAspect="1"/>
          </p:cNvPicPr>
          <p:nvPr/>
        </p:nvPicPr>
        <p:blipFill>
          <a:blip r:embed="rId4"/>
          <a:stretch>
            <a:fillRect/>
          </a:stretch>
        </p:blipFill>
        <p:spPr>
          <a:xfrm>
            <a:off x="857250" y="3362325"/>
            <a:ext cx="219075" cy="200025"/>
          </a:xfrm>
          <a:prstGeom prst="rect">
            <a:avLst/>
          </a:prstGeom>
        </p:spPr>
      </p:pic>
      <p:pic>
        <p:nvPicPr>
          <p:cNvPr id="13" name="Picture 12" descr="image.png"/>
          <p:cNvPicPr>
            <a:picLocks noChangeAspect="1"/>
          </p:cNvPicPr>
          <p:nvPr/>
        </p:nvPicPr>
        <p:blipFill>
          <a:blip r:embed="rId5"/>
          <a:stretch>
            <a:fillRect/>
          </a:stretch>
        </p:blipFill>
        <p:spPr>
          <a:xfrm>
            <a:off x="857250" y="4486275"/>
            <a:ext cx="171450" cy="200025"/>
          </a:xfrm>
          <a:prstGeom prst="rect">
            <a:avLst/>
          </a:prstGeom>
        </p:spPr>
      </p:pic>
      <p:pic>
        <p:nvPicPr>
          <p:cNvPr id="14" name="Picture 13" descr="image.png"/>
          <p:cNvPicPr>
            <a:picLocks noChangeAspect="1"/>
          </p:cNvPicPr>
          <p:nvPr/>
        </p:nvPicPr>
        <p:blipFill>
          <a:blip r:embed="rId5"/>
          <a:stretch>
            <a:fillRect/>
          </a:stretch>
        </p:blipFill>
        <p:spPr>
          <a:xfrm>
            <a:off x="857250" y="4991100"/>
            <a:ext cx="171450" cy="200025"/>
          </a:xfrm>
          <a:prstGeom prst="rect">
            <a:avLst/>
          </a:prstGeom>
        </p:spPr>
      </p:pic>
      <p:pic>
        <p:nvPicPr>
          <p:cNvPr id="15" name="Picture 14" descr="image.png"/>
          <p:cNvPicPr>
            <a:picLocks noChangeAspect="1"/>
          </p:cNvPicPr>
          <p:nvPr/>
        </p:nvPicPr>
        <p:blipFill>
          <a:blip r:embed="rId5"/>
          <a:stretch>
            <a:fillRect/>
          </a:stretch>
        </p:blipFill>
        <p:spPr>
          <a:xfrm>
            <a:off x="857250" y="5495925"/>
            <a:ext cx="171450" cy="200025"/>
          </a:xfrm>
          <a:prstGeom prst="rect">
            <a:avLst/>
          </a:prstGeom>
        </p:spPr>
      </p:pic>
      <p:sp>
        <p:nvSpPr>
          <p:cNvPr id="16" name="TextBox 15"/>
          <p:cNvSpPr txBox="1"/>
          <p:nvPr/>
        </p:nvSpPr>
        <p:spPr>
          <a:xfrm>
            <a:off x="581025" y="581025"/>
            <a:ext cx="11581447" cy="466725"/>
          </a:xfrm>
          <a:prstGeom prst="rect">
            <a:avLst/>
          </a:prstGeom>
          <a:noFill/>
        </p:spPr>
        <p:txBody>
          <a:bodyPr wrap="square" lIns="0" tIns="0" rIns="0" bIns="0" anchor="t">
            <a:spAutoFit/>
          </a:bodyPr>
          <a:lstStyle/>
          <a:p>
            <a:pPr algn="l"/>
            <a:r>
              <a:rPr sz="3000" b="1" i="0" u="none">
                <a:solidFill>
                  <a:srgbClr val="000000"/>
                </a:solidFill>
                <a:latin typeface="Times New Roman"/>
              </a:rPr>
              <a:t>Key Challenges &amp; Objectives</a:t>
            </a:r>
          </a:p>
        </p:txBody>
      </p:sp>
      <p:sp>
        <p:nvSpPr>
          <p:cNvPr id="17" name="Rectangle 16"/>
          <p:cNvSpPr/>
          <p:nvPr/>
        </p:nvSpPr>
        <p:spPr>
          <a:xfrm>
            <a:off x="581025" y="1123950"/>
            <a:ext cx="11029950"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81025" y="1190625"/>
            <a:ext cx="5276850" cy="2314575"/>
          </a:xfrm>
          <a:prstGeom prst="rect">
            <a:avLst/>
          </a:prstGeom>
        </p:spPr>
      </p:pic>
      <p:pic>
        <p:nvPicPr>
          <p:cNvPr id="3" name="Picture 2" descr="image.png"/>
          <p:cNvPicPr>
            <a:picLocks noChangeAspect="1"/>
          </p:cNvPicPr>
          <p:nvPr/>
        </p:nvPicPr>
        <p:blipFill>
          <a:blip r:embed="rId2"/>
          <a:stretch>
            <a:fillRect/>
          </a:stretch>
        </p:blipFill>
        <p:spPr>
          <a:xfrm>
            <a:off x="6334125" y="1190625"/>
            <a:ext cx="5276850" cy="2314575"/>
          </a:xfrm>
          <a:prstGeom prst="rect">
            <a:avLst/>
          </a:prstGeom>
        </p:spPr>
      </p:pic>
      <p:pic>
        <p:nvPicPr>
          <p:cNvPr id="4" name="Picture 3" descr="image.png"/>
          <p:cNvPicPr>
            <a:picLocks noChangeAspect="1"/>
          </p:cNvPicPr>
          <p:nvPr/>
        </p:nvPicPr>
        <p:blipFill>
          <a:blip r:embed="rId3"/>
          <a:stretch>
            <a:fillRect/>
          </a:stretch>
        </p:blipFill>
        <p:spPr>
          <a:xfrm>
            <a:off x="581025" y="3981450"/>
            <a:ext cx="5276850" cy="2628900"/>
          </a:xfrm>
          <a:prstGeom prst="rect">
            <a:avLst/>
          </a:prstGeom>
        </p:spPr>
      </p:pic>
      <p:pic>
        <p:nvPicPr>
          <p:cNvPr id="5" name="Picture 4" descr="image.png"/>
          <p:cNvPicPr>
            <a:picLocks noChangeAspect="1"/>
          </p:cNvPicPr>
          <p:nvPr/>
        </p:nvPicPr>
        <p:blipFill>
          <a:blip r:embed="rId3"/>
          <a:stretch>
            <a:fillRect/>
          </a:stretch>
        </p:blipFill>
        <p:spPr>
          <a:xfrm>
            <a:off x="6334125" y="3981450"/>
            <a:ext cx="5276850" cy="2628900"/>
          </a:xfrm>
          <a:prstGeom prst="rect">
            <a:avLst/>
          </a:prstGeom>
        </p:spPr>
      </p:pic>
      <p:sp>
        <p:nvSpPr>
          <p:cNvPr id="6" name="TextBox 5"/>
          <p:cNvSpPr txBox="1"/>
          <p:nvPr/>
        </p:nvSpPr>
        <p:spPr>
          <a:xfrm>
            <a:off x="971550" y="1581150"/>
            <a:ext cx="4720590" cy="304800"/>
          </a:xfrm>
          <a:prstGeom prst="rect">
            <a:avLst/>
          </a:prstGeom>
          <a:noFill/>
        </p:spPr>
        <p:txBody>
          <a:bodyPr wrap="square" lIns="0" tIns="0" rIns="0" bIns="0" anchor="t">
            <a:spAutoFit/>
          </a:bodyPr>
          <a:lstStyle/>
          <a:p>
            <a:pPr algn="l"/>
            <a:r>
              <a:rPr sz="2100" b="1" i="0" u="none">
                <a:solidFill>
                  <a:srgbClr val="000000"/>
                </a:solidFill>
                <a:latin typeface="Times New Roman"/>
              </a:rPr>
              <a:t>Encapsulation</a:t>
            </a:r>
          </a:p>
        </p:txBody>
      </p:sp>
      <p:sp>
        <p:nvSpPr>
          <p:cNvPr id="7" name="TextBox 6"/>
          <p:cNvSpPr txBox="1"/>
          <p:nvPr/>
        </p:nvSpPr>
        <p:spPr>
          <a:xfrm>
            <a:off x="971550" y="2028825"/>
            <a:ext cx="4495800" cy="94297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Data hiding in Entity Models (User, UserProfile, AcademicRecord) using private attributes with controlled getters and setters to protect data integrity.</a:t>
            </a:r>
          </a:p>
        </p:txBody>
      </p:sp>
      <p:sp>
        <p:nvSpPr>
          <p:cNvPr id="8" name="TextBox 7"/>
          <p:cNvSpPr txBox="1"/>
          <p:nvPr/>
        </p:nvSpPr>
        <p:spPr>
          <a:xfrm>
            <a:off x="6724650" y="1581150"/>
            <a:ext cx="4720590" cy="304800"/>
          </a:xfrm>
          <a:prstGeom prst="rect">
            <a:avLst/>
          </a:prstGeom>
          <a:noFill/>
        </p:spPr>
        <p:txBody>
          <a:bodyPr wrap="square" lIns="0" tIns="0" rIns="0" bIns="0" anchor="t">
            <a:spAutoFit/>
          </a:bodyPr>
          <a:lstStyle/>
          <a:p>
            <a:pPr algn="l"/>
            <a:r>
              <a:rPr sz="2100" b="1" i="0" u="none">
                <a:solidFill>
                  <a:srgbClr val="000000"/>
                </a:solidFill>
                <a:latin typeface="Times New Roman"/>
              </a:rPr>
              <a:t>Inheritance &amp; Abstraction</a:t>
            </a:r>
          </a:p>
        </p:txBody>
      </p:sp>
      <p:sp>
        <p:nvSpPr>
          <p:cNvPr id="9" name="TextBox 8"/>
          <p:cNvSpPr txBox="1"/>
          <p:nvPr/>
        </p:nvSpPr>
        <p:spPr>
          <a:xfrm>
            <a:off x="6724650" y="2028825"/>
            <a:ext cx="4495800" cy="94297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Abstract base data access objects (Repositories) extending Spring JPA interfaces (JpaRepository) to eliminate redundant code.</a:t>
            </a:r>
          </a:p>
        </p:txBody>
      </p:sp>
      <p:sp>
        <p:nvSpPr>
          <p:cNvPr id="10" name="TextBox 9"/>
          <p:cNvSpPr txBox="1"/>
          <p:nvPr/>
        </p:nvSpPr>
        <p:spPr>
          <a:xfrm>
            <a:off x="971550" y="4371975"/>
            <a:ext cx="4720590" cy="304800"/>
          </a:xfrm>
          <a:prstGeom prst="rect">
            <a:avLst/>
          </a:prstGeom>
          <a:noFill/>
        </p:spPr>
        <p:txBody>
          <a:bodyPr wrap="square" lIns="0" tIns="0" rIns="0" bIns="0" anchor="t">
            <a:spAutoFit/>
          </a:bodyPr>
          <a:lstStyle/>
          <a:p>
            <a:pPr algn="l"/>
            <a:r>
              <a:rPr sz="2100" b="1" i="0" u="none">
                <a:solidFill>
                  <a:srgbClr val="000000"/>
                </a:solidFill>
                <a:latin typeface="Times New Roman"/>
              </a:rPr>
              <a:t>Polymorphism</a:t>
            </a:r>
          </a:p>
        </p:txBody>
      </p:sp>
      <p:sp>
        <p:nvSpPr>
          <p:cNvPr id="11" name="TextBox 10"/>
          <p:cNvSpPr txBox="1"/>
          <p:nvPr/>
        </p:nvSpPr>
        <p:spPr>
          <a:xfrm>
            <a:off x="971550" y="4819650"/>
            <a:ext cx="4495800" cy="94297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Flexible processing of different verification types allowing the system to seamlessly handle dynamic VerificationRequest and VerificationResult objects.</a:t>
            </a:r>
          </a:p>
        </p:txBody>
      </p:sp>
      <p:sp>
        <p:nvSpPr>
          <p:cNvPr id="12" name="TextBox 11"/>
          <p:cNvSpPr txBox="1"/>
          <p:nvPr/>
        </p:nvSpPr>
        <p:spPr>
          <a:xfrm>
            <a:off x="6724650" y="4371975"/>
            <a:ext cx="4720590" cy="304800"/>
          </a:xfrm>
          <a:prstGeom prst="rect">
            <a:avLst/>
          </a:prstGeom>
          <a:noFill/>
        </p:spPr>
        <p:txBody>
          <a:bodyPr wrap="square" lIns="0" tIns="0" rIns="0" bIns="0" anchor="t">
            <a:spAutoFit/>
          </a:bodyPr>
          <a:lstStyle/>
          <a:p>
            <a:pPr algn="l"/>
            <a:r>
              <a:rPr sz="2100" b="1" i="0" u="none">
                <a:solidFill>
                  <a:srgbClr val="000000"/>
                </a:solidFill>
                <a:latin typeface="Times New Roman"/>
              </a:rPr>
              <a:t>Design Patterns</a:t>
            </a:r>
          </a:p>
        </p:txBody>
      </p:sp>
      <p:sp>
        <p:nvSpPr>
          <p:cNvPr id="13" name="TextBox 12"/>
          <p:cNvSpPr txBox="1"/>
          <p:nvPr/>
        </p:nvSpPr>
        <p:spPr>
          <a:xfrm>
            <a:off x="6724650" y="4819650"/>
            <a:ext cx="4495800" cy="1257300"/>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Implemented the Facade Pattern via MultiTierVerificationFacade to hide complex multi-step verification logic behind a single unified interface.</a:t>
            </a:r>
          </a:p>
        </p:txBody>
      </p:sp>
      <p:sp>
        <p:nvSpPr>
          <p:cNvPr id="14" name="TextBox 13"/>
          <p:cNvSpPr txBox="1"/>
          <p:nvPr/>
        </p:nvSpPr>
        <p:spPr>
          <a:xfrm>
            <a:off x="581025" y="247650"/>
            <a:ext cx="11581447" cy="466725"/>
          </a:xfrm>
          <a:prstGeom prst="rect">
            <a:avLst/>
          </a:prstGeom>
          <a:noFill/>
        </p:spPr>
        <p:txBody>
          <a:bodyPr wrap="square" lIns="0" tIns="0" rIns="0" bIns="0" anchor="t">
            <a:spAutoFit/>
          </a:bodyPr>
          <a:lstStyle/>
          <a:p>
            <a:pPr algn="l"/>
            <a:r>
              <a:rPr sz="3000" b="1" i="0" u="none">
                <a:solidFill>
                  <a:srgbClr val="000000"/>
                </a:solidFill>
                <a:latin typeface="Times New Roman"/>
              </a:rPr>
              <a:t>OOP Paradigms Applied in Hestia</a:t>
            </a:r>
          </a:p>
        </p:txBody>
      </p:sp>
      <p:sp>
        <p:nvSpPr>
          <p:cNvPr id="15" name="Rectangle 14"/>
          <p:cNvSpPr/>
          <p:nvPr/>
        </p:nvSpPr>
        <p:spPr>
          <a:xfrm>
            <a:off x="581025" y="790575"/>
            <a:ext cx="11029950"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581025" y="1895475"/>
          <a:ext cx="11020424" cy="4010025"/>
        </p:xfrm>
        <a:graphic>
          <a:graphicData uri="http://schemas.openxmlformats.org/drawingml/2006/table">
            <a:tbl>
              <a:tblPr firstRow="1" bandRow="1">
                <a:tableStyleId>{5C22544A-7EE6-4342-B048-85BDC9FD1C3A}</a:tableStyleId>
              </a:tblPr>
              <a:tblGrid>
                <a:gridCol w="6288583">
                  <a:extLst>
                    <a:ext uri="{9D8B030D-6E8A-4147-A177-3AD203B41FA5}">
                      <a16:colId xmlns:a16="http://schemas.microsoft.com/office/drawing/2014/main" val="20000"/>
                    </a:ext>
                  </a:extLst>
                </a:gridCol>
                <a:gridCol w="2088505">
                  <a:extLst>
                    <a:ext uri="{9D8B030D-6E8A-4147-A177-3AD203B41FA5}">
                      <a16:colId xmlns:a16="http://schemas.microsoft.com/office/drawing/2014/main" val="20001"/>
                    </a:ext>
                  </a:extLst>
                </a:gridCol>
                <a:gridCol w="2643336">
                  <a:extLst>
                    <a:ext uri="{9D8B030D-6E8A-4147-A177-3AD203B41FA5}">
                      <a16:colId xmlns:a16="http://schemas.microsoft.com/office/drawing/2014/main" val="20002"/>
                    </a:ext>
                  </a:extLst>
                </a:gridCol>
              </a:tblGrid>
              <a:tr h="668337">
                <a:tc>
                  <a:txBody>
                    <a:bodyPr/>
                    <a:lstStyle/>
                    <a:p>
                      <a:pPr algn="l"/>
                      <a:r>
                        <a:rPr sz="1650" b="1" i="0" u="none">
                          <a:solidFill>
                            <a:srgbClr val="000000"/>
                          </a:solidFill>
                          <a:latin typeface="Times New Roman"/>
                        </a:rPr>
                        <a:t>Module Name</a:t>
                      </a:r>
                    </a:p>
                  </a:txBody>
                  <a:tcPr marL="63500" marR="63500" marT="25400" marB="25400" anchor="ctr">
                    <a:lnL>
                      <a:noFill/>
                    </a:lnL>
                    <a:lnR>
                      <a:noFill/>
                    </a:lnR>
                    <a:lnT>
                      <a:noFill/>
                    </a:lnT>
                    <a:lnB>
                      <a:noFill/>
                    </a:lnB>
                    <a:solidFill>
                      <a:srgbClr val="F5F5F5"/>
                    </a:solidFill>
                  </a:tcPr>
                </a:tc>
                <a:tc>
                  <a:txBody>
                    <a:bodyPr/>
                    <a:lstStyle/>
                    <a:p>
                      <a:pPr algn="l"/>
                      <a:r>
                        <a:rPr sz="1650" b="1" i="0" u="none">
                          <a:solidFill>
                            <a:srgbClr val="000000"/>
                          </a:solidFill>
                          <a:latin typeface="Times New Roman"/>
                        </a:rPr>
                        <a:t>Status</a:t>
                      </a:r>
                    </a:p>
                  </a:txBody>
                  <a:tcPr marL="63500" marR="63500" marT="25400" marB="25400" anchor="ctr">
                    <a:lnL>
                      <a:noFill/>
                    </a:lnL>
                    <a:lnR>
                      <a:noFill/>
                    </a:lnR>
                    <a:lnT>
                      <a:noFill/>
                    </a:lnT>
                    <a:lnB>
                      <a:noFill/>
                    </a:lnB>
                    <a:solidFill>
                      <a:srgbClr val="F5F5F5"/>
                    </a:solidFill>
                  </a:tcPr>
                </a:tc>
                <a:tc>
                  <a:txBody>
                    <a:bodyPr/>
                    <a:lstStyle/>
                    <a:p>
                      <a:pPr algn="l"/>
                      <a:r>
                        <a:rPr sz="1650" b="1" i="0" u="none">
                          <a:solidFill>
                            <a:srgbClr val="000000"/>
                          </a:solidFill>
                          <a:latin typeface="Times New Roman"/>
                        </a:rPr>
                        <a:t>Completion %</a:t>
                      </a:r>
                    </a:p>
                  </a:txBody>
                  <a:tcPr marL="63500" marR="63500" marT="25400" marB="25400" anchor="ctr">
                    <a:lnL>
                      <a:noFill/>
                    </a:lnL>
                    <a:lnR>
                      <a:noFill/>
                    </a:lnR>
                    <a:lnT>
                      <a:noFill/>
                    </a:lnT>
                    <a:lnB>
                      <a:noFill/>
                    </a:lnB>
                    <a:solidFill>
                      <a:srgbClr val="F5F5F5"/>
                    </a:solidFill>
                  </a:tcPr>
                </a:tc>
                <a:extLst>
                  <a:ext uri="{0D108BD9-81ED-4DB2-BD59-A6C34878D82A}">
                    <a16:rowId xmlns:a16="http://schemas.microsoft.com/office/drawing/2014/main" val="10000"/>
                  </a:ext>
                </a:extLst>
              </a:tr>
              <a:tr h="668337">
                <a:tc>
                  <a:txBody>
                    <a:bodyPr/>
                    <a:lstStyle/>
                    <a:p>
                      <a:pPr algn="l"/>
                      <a:r>
                        <a:rPr sz="1650" b="0" i="0" u="none">
                          <a:solidFill>
                            <a:srgbClr val="000000"/>
                          </a:solidFill>
                          <a:latin typeface="Times New Roman"/>
                        </a:rPr>
                        <a:t>Module 1: User Management &amp; Security</a:t>
                      </a:r>
                    </a:p>
                  </a:txBody>
                  <a:tcPr marL="63500" marR="63500" marT="25400" marB="25400" anchor="ctr">
                    <a:lnL>
                      <a:noFill/>
                    </a:lnL>
                    <a:lnR>
                      <a:noFill/>
                    </a:lnR>
                    <a:lnT>
                      <a:noFill/>
                    </a:lnT>
                    <a:lnB>
                      <a:noFill/>
                    </a:lnB>
                    <a:noFill/>
                  </a:tcPr>
                </a:tc>
                <a:tc>
                  <a:txBody>
                    <a:bodyPr/>
                    <a:lstStyle/>
                    <a:p>
                      <a:pPr algn="l"/>
                      <a:r>
                        <a:rPr sz="1650" b="0" i="0" u="none">
                          <a:solidFill>
                            <a:srgbClr val="000000"/>
                          </a:solidFill>
                          <a:latin typeface="Times New Roman"/>
                        </a:rPr>
                        <a:t>Completed</a:t>
                      </a:r>
                    </a:p>
                  </a:txBody>
                  <a:tcPr marL="63500" marR="63500" marT="25400" marB="25400" anchor="ctr">
                    <a:lnL>
                      <a:noFill/>
                    </a:lnL>
                    <a:lnR>
                      <a:noFill/>
                    </a:lnR>
                    <a:lnT>
                      <a:noFill/>
                    </a:lnT>
                    <a:lnB>
                      <a:noFill/>
                    </a:lnB>
                    <a:noFill/>
                  </a:tcPr>
                </a:tc>
                <a:tc>
                  <a:txBody>
                    <a:bodyPr/>
                    <a:lstStyle/>
                    <a:p>
                      <a:pPr algn="l"/>
                      <a:r>
                        <a:rPr sz="1650" b="0" i="0" u="none">
                          <a:solidFill>
                            <a:srgbClr val="000000"/>
                          </a:solidFill>
                          <a:latin typeface="Times New Roman"/>
                        </a:rPr>
                        <a:t>100%</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668337">
                <a:tc>
                  <a:txBody>
                    <a:bodyPr/>
                    <a:lstStyle/>
                    <a:p>
                      <a:pPr algn="l"/>
                      <a:r>
                        <a:rPr sz="1650" b="0" i="0" u="none">
                          <a:solidFill>
                            <a:srgbClr val="000000"/>
                          </a:solidFill>
                          <a:latin typeface="Times New Roman"/>
                        </a:rPr>
                        <a:t>Module 2: Multi-Tier Document Verification</a:t>
                      </a:r>
                    </a:p>
                  </a:txBody>
                  <a:tcPr marL="63500" marR="63500" marT="25400" marB="25400" anchor="ctr">
                    <a:lnL>
                      <a:noFill/>
                    </a:lnL>
                    <a:lnR>
                      <a:noFill/>
                    </a:lnR>
                    <a:lnT>
                      <a:noFill/>
                    </a:lnT>
                    <a:lnB>
                      <a:noFill/>
                    </a:lnB>
                    <a:noFill/>
                  </a:tcPr>
                </a:tc>
                <a:tc>
                  <a:txBody>
                    <a:bodyPr/>
                    <a:lstStyle/>
                    <a:p>
                      <a:pPr algn="l"/>
                      <a:r>
                        <a:rPr sz="1650" b="0" i="0" u="none">
                          <a:solidFill>
                            <a:srgbClr val="000000"/>
                          </a:solidFill>
                          <a:latin typeface="Times New Roman"/>
                        </a:rPr>
                        <a:t>Completed</a:t>
                      </a:r>
                    </a:p>
                  </a:txBody>
                  <a:tcPr marL="63500" marR="63500" marT="25400" marB="25400" anchor="ctr">
                    <a:lnL>
                      <a:noFill/>
                    </a:lnL>
                    <a:lnR>
                      <a:noFill/>
                    </a:lnR>
                    <a:lnT>
                      <a:noFill/>
                    </a:lnT>
                    <a:lnB>
                      <a:noFill/>
                    </a:lnB>
                    <a:noFill/>
                  </a:tcPr>
                </a:tc>
                <a:tc>
                  <a:txBody>
                    <a:bodyPr/>
                    <a:lstStyle/>
                    <a:p>
                      <a:pPr algn="l"/>
                      <a:r>
                        <a:rPr sz="1650" b="0" i="0" u="none">
                          <a:solidFill>
                            <a:srgbClr val="000000"/>
                          </a:solidFill>
                          <a:latin typeface="Times New Roman"/>
                        </a:rPr>
                        <a:t>100%</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2"/>
                  </a:ext>
                </a:extLst>
              </a:tr>
              <a:tr h="668337">
                <a:tc>
                  <a:txBody>
                    <a:bodyPr/>
                    <a:lstStyle/>
                    <a:p>
                      <a:pPr algn="l"/>
                      <a:r>
                        <a:rPr sz="1650" b="0" i="0" u="none">
                          <a:solidFill>
                            <a:srgbClr val="000000"/>
                          </a:solidFill>
                          <a:latin typeface="Times New Roman"/>
                        </a:rPr>
                        <a:t>Module 3: Academic Credential Vault</a:t>
                      </a:r>
                    </a:p>
                  </a:txBody>
                  <a:tcPr marL="63500" marR="63500" marT="25400" marB="25400" anchor="ctr">
                    <a:lnL>
                      <a:noFill/>
                    </a:lnL>
                    <a:lnR>
                      <a:noFill/>
                    </a:lnR>
                    <a:lnT>
                      <a:noFill/>
                    </a:lnT>
                    <a:lnB>
                      <a:noFill/>
                    </a:lnB>
                    <a:noFill/>
                  </a:tcPr>
                </a:tc>
                <a:tc>
                  <a:txBody>
                    <a:bodyPr/>
                    <a:lstStyle/>
                    <a:p>
                      <a:pPr algn="l"/>
                      <a:r>
                        <a:rPr sz="1650" b="0" i="0" u="none">
                          <a:solidFill>
                            <a:srgbClr val="000000"/>
                          </a:solidFill>
                          <a:latin typeface="Times New Roman"/>
                        </a:rPr>
                        <a:t>Completed</a:t>
                      </a:r>
                    </a:p>
                  </a:txBody>
                  <a:tcPr marL="63500" marR="63500" marT="25400" marB="25400" anchor="ctr">
                    <a:lnL>
                      <a:noFill/>
                    </a:lnL>
                    <a:lnR>
                      <a:noFill/>
                    </a:lnR>
                    <a:lnT>
                      <a:noFill/>
                    </a:lnT>
                    <a:lnB>
                      <a:noFill/>
                    </a:lnB>
                    <a:noFill/>
                  </a:tcPr>
                </a:tc>
                <a:tc>
                  <a:txBody>
                    <a:bodyPr/>
                    <a:lstStyle/>
                    <a:p>
                      <a:pPr algn="l"/>
                      <a:r>
                        <a:rPr sz="1650" b="0" i="0" u="none">
                          <a:solidFill>
                            <a:srgbClr val="000000"/>
                          </a:solidFill>
                          <a:latin typeface="Times New Roman"/>
                        </a:rPr>
                        <a:t>100%</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668337">
                <a:tc>
                  <a:txBody>
                    <a:bodyPr/>
                    <a:lstStyle/>
                    <a:p>
                      <a:pPr algn="l"/>
                      <a:r>
                        <a:rPr sz="1650" b="0" i="0" u="none">
                          <a:solidFill>
                            <a:srgbClr val="000000"/>
                          </a:solidFill>
                          <a:latin typeface="Times New Roman"/>
                        </a:rPr>
                        <a:t>Module 4: Job Evaluation Engine</a:t>
                      </a:r>
                    </a:p>
                  </a:txBody>
                  <a:tcPr marL="63500" marR="63500" marT="25400" marB="25400" anchor="ctr">
                    <a:lnL>
                      <a:noFill/>
                    </a:lnL>
                    <a:lnR>
                      <a:noFill/>
                    </a:lnR>
                    <a:lnT>
                      <a:noFill/>
                    </a:lnT>
                    <a:lnB>
                      <a:noFill/>
                    </a:lnB>
                    <a:noFill/>
                  </a:tcPr>
                </a:tc>
                <a:tc>
                  <a:txBody>
                    <a:bodyPr/>
                    <a:lstStyle/>
                    <a:p>
                      <a:pPr algn="l"/>
                      <a:r>
                        <a:rPr sz="1650" b="0" i="0" u="none">
                          <a:solidFill>
                            <a:srgbClr val="000000"/>
                          </a:solidFill>
                          <a:latin typeface="Times New Roman"/>
                        </a:rPr>
                        <a:t>In progress</a:t>
                      </a:r>
                    </a:p>
                  </a:txBody>
                  <a:tcPr marL="63500" marR="63500" marT="25400" marB="25400" anchor="ctr">
                    <a:lnL>
                      <a:noFill/>
                    </a:lnL>
                    <a:lnR>
                      <a:noFill/>
                    </a:lnR>
                    <a:lnT>
                      <a:noFill/>
                    </a:lnT>
                    <a:lnB>
                      <a:noFill/>
                    </a:lnB>
                    <a:noFill/>
                  </a:tcPr>
                </a:tc>
                <a:tc>
                  <a:txBody>
                    <a:bodyPr/>
                    <a:lstStyle/>
                    <a:p>
                      <a:pPr algn="l"/>
                      <a:r>
                        <a:rPr sz="1650" b="0" i="0" u="none">
                          <a:solidFill>
                            <a:srgbClr val="000000"/>
                          </a:solidFill>
                          <a:latin typeface="Times New Roman"/>
                        </a:rPr>
                        <a:t>35%</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4"/>
                  </a:ext>
                </a:extLst>
              </a:tr>
              <a:tr h="668340">
                <a:tc>
                  <a:txBody>
                    <a:bodyPr/>
                    <a:lstStyle/>
                    <a:p>
                      <a:pPr algn="l"/>
                      <a:r>
                        <a:rPr sz="1650" b="1" i="0" u="none">
                          <a:solidFill>
                            <a:srgbClr val="000000"/>
                          </a:solidFill>
                          <a:latin typeface="Times New Roman"/>
                        </a:rPr>
                        <a:t>Total Overall Project Progress</a:t>
                      </a:r>
                    </a:p>
                  </a:txBody>
                  <a:tcPr marL="63500" marR="63500" marT="25400" marB="25400" anchor="ctr">
                    <a:lnL>
                      <a:noFill/>
                    </a:lnL>
                    <a:lnR>
                      <a:noFill/>
                    </a:lnR>
                    <a:lnT>
                      <a:noFill/>
                    </a:lnT>
                    <a:lnB>
                      <a:noFill/>
                    </a:lnB>
                    <a:noFill/>
                  </a:tcPr>
                </a:tc>
                <a:tc>
                  <a:txBody>
                    <a:bodyPr/>
                    <a:lstStyle/>
                    <a:p>
                      <a:pPr algn="l"/>
                      <a:endParaRPr/>
                    </a:p>
                  </a:txBody>
                  <a:tcPr marL="63500" marR="63500" marT="25400" marB="25400" anchor="ctr">
                    <a:lnL>
                      <a:noFill/>
                    </a:lnL>
                    <a:lnR>
                      <a:noFill/>
                    </a:lnR>
                    <a:lnT>
                      <a:noFill/>
                    </a:lnT>
                    <a:lnB>
                      <a:noFill/>
                    </a:lnB>
                    <a:noFill/>
                  </a:tcPr>
                </a:tc>
                <a:tc>
                  <a:txBody>
                    <a:bodyPr/>
                    <a:lstStyle/>
                    <a:p>
                      <a:pPr algn="l"/>
                      <a:r>
                        <a:rPr sz="1650" b="1" i="0" u="none">
                          <a:solidFill>
                            <a:srgbClr val="000000"/>
                          </a:solidFill>
                          <a:latin typeface="Times New Roman"/>
                        </a:rPr>
                        <a:t>60%</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
        <p:nvSpPr>
          <p:cNvPr id="3" name="TextBox 2"/>
          <p:cNvSpPr txBox="1"/>
          <p:nvPr/>
        </p:nvSpPr>
        <p:spPr>
          <a:xfrm>
            <a:off x="581025" y="581025"/>
            <a:ext cx="11581447" cy="466725"/>
          </a:xfrm>
          <a:prstGeom prst="rect">
            <a:avLst/>
          </a:prstGeom>
          <a:noFill/>
        </p:spPr>
        <p:txBody>
          <a:bodyPr wrap="square" lIns="0" tIns="0" rIns="0" bIns="0" anchor="t">
            <a:spAutoFit/>
          </a:bodyPr>
          <a:lstStyle/>
          <a:p>
            <a:pPr algn="l"/>
            <a:r>
              <a:rPr sz="3000" b="1" i="0" u="none">
                <a:solidFill>
                  <a:srgbClr val="000000"/>
                </a:solidFill>
                <a:latin typeface="Times New Roman"/>
              </a:rPr>
              <a:t>System Module Overview</a:t>
            </a:r>
          </a:p>
        </p:txBody>
      </p:sp>
      <p:sp>
        <p:nvSpPr>
          <p:cNvPr id="4" name="Rectangle 3"/>
          <p:cNvSpPr/>
          <p:nvPr/>
        </p:nvSpPr>
        <p:spPr>
          <a:xfrm>
            <a:off x="581025" y="1123950"/>
            <a:ext cx="11029950"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57250" y="1947862"/>
            <a:ext cx="11001375" cy="304800"/>
          </a:xfrm>
          <a:prstGeom prst="rect">
            <a:avLst/>
          </a:prstGeom>
          <a:noFill/>
        </p:spPr>
        <p:txBody>
          <a:bodyPr wrap="square" lIns="0" tIns="0" rIns="0" bIns="0" anchor="t">
            <a:spAutoFit/>
          </a:bodyPr>
          <a:lstStyle/>
          <a:p>
            <a:pPr algn="l"/>
            <a:r>
              <a:rPr sz="2100" b="1" i="0" u="none">
                <a:solidFill>
                  <a:srgbClr val="000000"/>
                </a:solidFill>
                <a:latin typeface="Times New Roman"/>
              </a:rPr>
              <a:t>Module 1 - User Management &amp; Authentication</a:t>
            </a:r>
          </a:p>
        </p:txBody>
      </p:sp>
      <p:sp>
        <p:nvSpPr>
          <p:cNvPr id="3" name="TextBox 2"/>
          <p:cNvSpPr txBox="1"/>
          <p:nvPr/>
        </p:nvSpPr>
        <p:spPr>
          <a:xfrm>
            <a:off x="857250" y="3890962"/>
            <a:ext cx="11001375" cy="304800"/>
          </a:xfrm>
          <a:prstGeom prst="rect">
            <a:avLst/>
          </a:prstGeom>
          <a:noFill/>
        </p:spPr>
        <p:txBody>
          <a:bodyPr wrap="square" lIns="0" tIns="0" rIns="0" bIns="0" anchor="t">
            <a:spAutoFit/>
          </a:bodyPr>
          <a:lstStyle/>
          <a:p>
            <a:pPr algn="l"/>
            <a:r>
              <a:rPr sz="2100" b="1" i="0" u="none">
                <a:solidFill>
                  <a:srgbClr val="000000"/>
                </a:solidFill>
                <a:latin typeface="Times New Roman"/>
              </a:rPr>
              <a:t>Module 2 - Multi-Tier Document Verification</a:t>
            </a:r>
          </a:p>
        </p:txBody>
      </p:sp>
      <p:sp>
        <p:nvSpPr>
          <p:cNvPr id="4" name="TextBox 3"/>
          <p:cNvSpPr txBox="1"/>
          <p:nvPr/>
        </p:nvSpPr>
        <p:spPr>
          <a:xfrm>
            <a:off x="1238250" y="2395537"/>
            <a:ext cx="10096500" cy="314325"/>
          </a:xfrm>
          <a:prstGeom prst="rect">
            <a:avLst/>
          </a:prstGeom>
          <a:noFill/>
        </p:spPr>
        <p:txBody>
          <a:bodyPr wrap="square" lIns="0" tIns="0" rIns="0" bIns="0" anchor="t">
            <a:spAutoFit/>
          </a:bodyPr>
          <a:lstStyle/>
          <a:p>
            <a:pPr algn="l">
              <a:lnSpc>
                <a:spcPts val="2475"/>
              </a:lnSpc>
            </a:pPr>
            <a:r>
              <a:rPr sz="1650" b="1" i="0" u="none">
                <a:solidFill>
                  <a:srgbClr val="000000"/>
                </a:solidFill>
                <a:latin typeface="Times New Roman"/>
              </a:rPr>
              <a:t>Goal:</a:t>
            </a:r>
            <a:r>
              <a:rPr sz="1650" b="0" i="0" u="none">
                <a:solidFill>
                  <a:srgbClr val="000000"/>
                </a:solidFill>
                <a:latin typeface="Times New Roman"/>
              </a:rPr>
              <a:t> Secure onboarding and role-based user authentication.</a:t>
            </a:r>
          </a:p>
        </p:txBody>
      </p:sp>
      <p:sp>
        <p:nvSpPr>
          <p:cNvPr id="5" name="TextBox 4"/>
          <p:cNvSpPr txBox="1"/>
          <p:nvPr/>
        </p:nvSpPr>
        <p:spPr>
          <a:xfrm>
            <a:off x="1238250" y="2900362"/>
            <a:ext cx="10096500" cy="628650"/>
          </a:xfrm>
          <a:prstGeom prst="rect">
            <a:avLst/>
          </a:prstGeom>
          <a:noFill/>
        </p:spPr>
        <p:txBody>
          <a:bodyPr wrap="square" lIns="0" tIns="0" rIns="0" bIns="0" anchor="t">
            <a:spAutoFit/>
          </a:bodyPr>
          <a:lstStyle/>
          <a:p>
            <a:pPr algn="l">
              <a:lnSpc>
                <a:spcPts val="2475"/>
              </a:lnSpc>
            </a:pPr>
            <a:r>
              <a:rPr sz="1650" b="1" i="0" u="none">
                <a:solidFill>
                  <a:srgbClr val="000000"/>
                </a:solidFill>
                <a:latin typeface="Times New Roman"/>
              </a:rPr>
              <a:t>Features:</a:t>
            </a:r>
            <a:r>
              <a:rPr sz="1650" b="0" i="0" u="none">
                <a:solidFill>
                  <a:srgbClr val="000000"/>
                </a:solidFill>
                <a:latin typeface="Times New Roman"/>
              </a:rPr>
              <a:t> User Registration &amp; Login with encrypted password storage, Role-based Access Control, and Profile management bound to individual accounts.</a:t>
            </a:r>
          </a:p>
        </p:txBody>
      </p:sp>
      <p:sp>
        <p:nvSpPr>
          <p:cNvPr id="6" name="TextBox 5"/>
          <p:cNvSpPr txBox="1"/>
          <p:nvPr/>
        </p:nvSpPr>
        <p:spPr>
          <a:xfrm>
            <a:off x="1238250" y="4338637"/>
            <a:ext cx="10096500" cy="314325"/>
          </a:xfrm>
          <a:prstGeom prst="rect">
            <a:avLst/>
          </a:prstGeom>
          <a:noFill/>
        </p:spPr>
        <p:txBody>
          <a:bodyPr wrap="square" lIns="0" tIns="0" rIns="0" bIns="0" anchor="t">
            <a:spAutoFit/>
          </a:bodyPr>
          <a:lstStyle/>
          <a:p>
            <a:pPr algn="l">
              <a:lnSpc>
                <a:spcPts val="2475"/>
              </a:lnSpc>
            </a:pPr>
            <a:r>
              <a:rPr sz="1650" b="1" i="0" u="none">
                <a:solidFill>
                  <a:srgbClr val="000000"/>
                </a:solidFill>
                <a:latin typeface="Times New Roman"/>
              </a:rPr>
              <a:t>Tier 1 (Edu Email):</a:t>
            </a:r>
            <a:r>
              <a:rPr sz="1650" b="0" i="0" u="none">
                <a:solidFill>
                  <a:srgbClr val="000000"/>
                </a:solidFill>
                <a:latin typeface="Times New Roman"/>
              </a:rPr>
              <a:t> Validates educational email domain authentications.</a:t>
            </a:r>
          </a:p>
        </p:txBody>
      </p:sp>
      <p:sp>
        <p:nvSpPr>
          <p:cNvPr id="7" name="TextBox 6"/>
          <p:cNvSpPr txBox="1"/>
          <p:nvPr/>
        </p:nvSpPr>
        <p:spPr>
          <a:xfrm>
            <a:off x="1238250" y="4843462"/>
            <a:ext cx="10096500" cy="314325"/>
          </a:xfrm>
          <a:prstGeom prst="rect">
            <a:avLst/>
          </a:prstGeom>
          <a:noFill/>
        </p:spPr>
        <p:txBody>
          <a:bodyPr wrap="square" lIns="0" tIns="0" rIns="0" bIns="0" anchor="t">
            <a:spAutoFit/>
          </a:bodyPr>
          <a:lstStyle/>
          <a:p>
            <a:pPr algn="l">
              <a:lnSpc>
                <a:spcPts val="2475"/>
              </a:lnSpc>
            </a:pPr>
            <a:r>
              <a:rPr sz="1650" b="1" i="0" u="none">
                <a:solidFill>
                  <a:srgbClr val="000000"/>
                </a:solidFill>
                <a:latin typeface="Times New Roman"/>
              </a:rPr>
              <a:t>Tier 2 (QR/PKI):</a:t>
            </a:r>
            <a:r>
              <a:rPr sz="1650" b="0" i="0" u="none">
                <a:solidFill>
                  <a:srgbClr val="000000"/>
                </a:solidFill>
                <a:latin typeface="Times New Roman"/>
              </a:rPr>
              <a:t> Decodes ZXing QR payloads and validates cryptographic digital signatures.</a:t>
            </a:r>
          </a:p>
        </p:txBody>
      </p:sp>
      <p:sp>
        <p:nvSpPr>
          <p:cNvPr id="8" name="TextBox 7"/>
          <p:cNvSpPr txBox="1"/>
          <p:nvPr/>
        </p:nvSpPr>
        <p:spPr>
          <a:xfrm>
            <a:off x="1238250" y="5348287"/>
            <a:ext cx="10096500" cy="314325"/>
          </a:xfrm>
          <a:prstGeom prst="rect">
            <a:avLst/>
          </a:prstGeom>
          <a:noFill/>
        </p:spPr>
        <p:txBody>
          <a:bodyPr wrap="square" lIns="0" tIns="0" rIns="0" bIns="0" anchor="t">
            <a:spAutoFit/>
          </a:bodyPr>
          <a:lstStyle/>
          <a:p>
            <a:pPr algn="l">
              <a:lnSpc>
                <a:spcPts val="2475"/>
              </a:lnSpc>
            </a:pPr>
            <a:r>
              <a:rPr sz="1650" b="1" i="0" u="none">
                <a:solidFill>
                  <a:srgbClr val="000000"/>
                </a:solidFill>
                <a:latin typeface="Times New Roman"/>
              </a:rPr>
              <a:t>Tier 3 (PDF Metadata):</a:t>
            </a:r>
            <a:r>
              <a:rPr sz="1650" b="0" i="0" u="none">
                <a:solidFill>
                  <a:srgbClr val="000000"/>
                </a:solidFill>
                <a:latin typeface="Times New Roman"/>
              </a:rPr>
              <a:t> Uses Apache PDFBox to scan for image-editing artifacts and cross-checks data.</a:t>
            </a:r>
          </a:p>
        </p:txBody>
      </p:sp>
      <p:pic>
        <p:nvPicPr>
          <p:cNvPr id="9" name="Picture 8" descr="image.png"/>
          <p:cNvPicPr>
            <a:picLocks noChangeAspect="1"/>
          </p:cNvPicPr>
          <p:nvPr/>
        </p:nvPicPr>
        <p:blipFill>
          <a:blip r:embed="rId2"/>
          <a:stretch>
            <a:fillRect/>
          </a:stretch>
        </p:blipFill>
        <p:spPr>
          <a:xfrm>
            <a:off x="857250" y="2447925"/>
            <a:ext cx="95250" cy="200025"/>
          </a:xfrm>
          <a:prstGeom prst="rect">
            <a:avLst/>
          </a:prstGeom>
        </p:spPr>
      </p:pic>
      <p:pic>
        <p:nvPicPr>
          <p:cNvPr id="10" name="Picture 9" descr="image.png"/>
          <p:cNvPicPr>
            <a:picLocks noChangeAspect="1"/>
          </p:cNvPicPr>
          <p:nvPr/>
        </p:nvPicPr>
        <p:blipFill>
          <a:blip r:embed="rId2"/>
          <a:stretch>
            <a:fillRect/>
          </a:stretch>
        </p:blipFill>
        <p:spPr>
          <a:xfrm>
            <a:off x="857250" y="2952750"/>
            <a:ext cx="95250" cy="200025"/>
          </a:xfrm>
          <a:prstGeom prst="rect">
            <a:avLst/>
          </a:prstGeom>
        </p:spPr>
      </p:pic>
      <p:pic>
        <p:nvPicPr>
          <p:cNvPr id="11" name="Picture 10" descr="image.png"/>
          <p:cNvPicPr>
            <a:picLocks noChangeAspect="1"/>
          </p:cNvPicPr>
          <p:nvPr/>
        </p:nvPicPr>
        <p:blipFill>
          <a:blip r:embed="rId2"/>
          <a:stretch>
            <a:fillRect/>
          </a:stretch>
        </p:blipFill>
        <p:spPr>
          <a:xfrm>
            <a:off x="857250" y="4391025"/>
            <a:ext cx="95250" cy="200025"/>
          </a:xfrm>
          <a:prstGeom prst="rect">
            <a:avLst/>
          </a:prstGeom>
        </p:spPr>
      </p:pic>
      <p:pic>
        <p:nvPicPr>
          <p:cNvPr id="12" name="Picture 11" descr="image.png"/>
          <p:cNvPicPr>
            <a:picLocks noChangeAspect="1"/>
          </p:cNvPicPr>
          <p:nvPr/>
        </p:nvPicPr>
        <p:blipFill>
          <a:blip r:embed="rId2"/>
          <a:stretch>
            <a:fillRect/>
          </a:stretch>
        </p:blipFill>
        <p:spPr>
          <a:xfrm>
            <a:off x="857250" y="4895850"/>
            <a:ext cx="95250" cy="200025"/>
          </a:xfrm>
          <a:prstGeom prst="rect">
            <a:avLst/>
          </a:prstGeom>
        </p:spPr>
      </p:pic>
      <p:pic>
        <p:nvPicPr>
          <p:cNvPr id="13" name="Picture 12" descr="image.png"/>
          <p:cNvPicPr>
            <a:picLocks noChangeAspect="1"/>
          </p:cNvPicPr>
          <p:nvPr/>
        </p:nvPicPr>
        <p:blipFill>
          <a:blip r:embed="rId2"/>
          <a:stretch>
            <a:fillRect/>
          </a:stretch>
        </p:blipFill>
        <p:spPr>
          <a:xfrm>
            <a:off x="857250" y="5400675"/>
            <a:ext cx="95250" cy="200025"/>
          </a:xfrm>
          <a:prstGeom prst="rect">
            <a:avLst/>
          </a:prstGeom>
        </p:spPr>
      </p:pic>
      <p:sp>
        <p:nvSpPr>
          <p:cNvPr id="14" name="TextBox 13"/>
          <p:cNvSpPr txBox="1"/>
          <p:nvPr/>
        </p:nvSpPr>
        <p:spPr>
          <a:xfrm>
            <a:off x="581025" y="581025"/>
            <a:ext cx="11581447" cy="466725"/>
          </a:xfrm>
          <a:prstGeom prst="rect">
            <a:avLst/>
          </a:prstGeom>
          <a:noFill/>
        </p:spPr>
        <p:txBody>
          <a:bodyPr wrap="square" lIns="0" tIns="0" rIns="0" bIns="0" anchor="t">
            <a:spAutoFit/>
          </a:bodyPr>
          <a:lstStyle/>
          <a:p>
            <a:pPr algn="l"/>
            <a:r>
              <a:rPr sz="3000" b="1" i="0" u="none">
                <a:solidFill>
                  <a:srgbClr val="000000"/>
                </a:solidFill>
                <a:latin typeface="Times New Roman"/>
              </a:rPr>
              <a:t>Completed Modules (1 &amp; 2)</a:t>
            </a:r>
          </a:p>
        </p:txBody>
      </p:sp>
      <p:sp>
        <p:nvSpPr>
          <p:cNvPr id="15" name="Rectangle 14"/>
          <p:cNvSpPr/>
          <p:nvPr/>
        </p:nvSpPr>
        <p:spPr>
          <a:xfrm>
            <a:off x="581025" y="1123950"/>
            <a:ext cx="11029950"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57250" y="2043112"/>
            <a:ext cx="11001375" cy="304800"/>
          </a:xfrm>
          <a:prstGeom prst="rect">
            <a:avLst/>
          </a:prstGeom>
          <a:noFill/>
        </p:spPr>
        <p:txBody>
          <a:bodyPr wrap="square" lIns="0" tIns="0" rIns="0" bIns="0" anchor="t">
            <a:spAutoFit/>
          </a:bodyPr>
          <a:lstStyle/>
          <a:p>
            <a:pPr algn="l"/>
            <a:r>
              <a:rPr sz="2100" b="1" i="0" u="none">
                <a:solidFill>
                  <a:srgbClr val="000000"/>
                </a:solidFill>
                <a:latin typeface="Times New Roman"/>
              </a:rPr>
              <a:t>Module 3 - Academic Credential Vault (Completed)</a:t>
            </a:r>
          </a:p>
        </p:txBody>
      </p:sp>
      <p:sp>
        <p:nvSpPr>
          <p:cNvPr id="3" name="TextBox 2"/>
          <p:cNvSpPr txBox="1"/>
          <p:nvPr/>
        </p:nvSpPr>
        <p:spPr>
          <a:xfrm>
            <a:off x="857250" y="3986212"/>
            <a:ext cx="11001375" cy="304800"/>
          </a:xfrm>
          <a:prstGeom prst="rect">
            <a:avLst/>
          </a:prstGeom>
          <a:noFill/>
        </p:spPr>
        <p:txBody>
          <a:bodyPr wrap="square" lIns="0" tIns="0" rIns="0" bIns="0" anchor="t">
            <a:spAutoFit/>
          </a:bodyPr>
          <a:lstStyle/>
          <a:p>
            <a:pPr algn="l"/>
            <a:r>
              <a:rPr sz="2100" b="1" i="0" u="none">
                <a:solidFill>
                  <a:srgbClr val="000000"/>
                </a:solidFill>
                <a:latin typeface="Times New Roman"/>
              </a:rPr>
              <a:t>Module 4 - AI Job Evaluation &amp; Career Matching (In Progress)</a:t>
            </a:r>
          </a:p>
        </p:txBody>
      </p:sp>
      <p:sp>
        <p:nvSpPr>
          <p:cNvPr id="4" name="TextBox 3"/>
          <p:cNvSpPr txBox="1"/>
          <p:nvPr/>
        </p:nvSpPr>
        <p:spPr>
          <a:xfrm>
            <a:off x="1238250" y="2490787"/>
            <a:ext cx="10096500" cy="314325"/>
          </a:xfrm>
          <a:prstGeom prst="rect">
            <a:avLst/>
          </a:prstGeom>
          <a:noFill/>
        </p:spPr>
        <p:txBody>
          <a:bodyPr wrap="square" lIns="0" tIns="0" rIns="0" bIns="0" anchor="t">
            <a:spAutoFit/>
          </a:bodyPr>
          <a:lstStyle/>
          <a:p>
            <a:pPr algn="l">
              <a:lnSpc>
                <a:spcPts val="2475"/>
              </a:lnSpc>
            </a:pPr>
            <a:r>
              <a:rPr sz="1650" b="1" i="0" u="none">
                <a:solidFill>
                  <a:srgbClr val="000000"/>
                </a:solidFill>
                <a:latin typeface="Times New Roman"/>
              </a:rPr>
              <a:t>Goal:</a:t>
            </a:r>
            <a:r>
              <a:rPr sz="1650" b="0" i="0" u="none">
                <a:solidFill>
                  <a:srgbClr val="000000"/>
                </a:solidFill>
                <a:latin typeface="Times New Roman"/>
              </a:rPr>
              <a:t> Centralized, tamper-evident repository for academic records.</a:t>
            </a:r>
          </a:p>
        </p:txBody>
      </p:sp>
      <p:sp>
        <p:nvSpPr>
          <p:cNvPr id="5" name="TextBox 4"/>
          <p:cNvSpPr txBox="1"/>
          <p:nvPr/>
        </p:nvSpPr>
        <p:spPr>
          <a:xfrm>
            <a:off x="1238250" y="2995612"/>
            <a:ext cx="10096500" cy="628650"/>
          </a:xfrm>
          <a:prstGeom prst="rect">
            <a:avLst/>
          </a:prstGeom>
          <a:noFill/>
        </p:spPr>
        <p:txBody>
          <a:bodyPr wrap="square" lIns="0" tIns="0" rIns="0" bIns="0" anchor="t">
            <a:spAutoFit/>
          </a:bodyPr>
          <a:lstStyle/>
          <a:p>
            <a:pPr algn="l">
              <a:lnSpc>
                <a:spcPts val="2475"/>
              </a:lnSpc>
            </a:pPr>
            <a:r>
              <a:rPr sz="1650" b="1" i="0" u="none">
                <a:solidFill>
                  <a:srgbClr val="000000"/>
                </a:solidFill>
                <a:latin typeface="Times New Roman"/>
              </a:rPr>
              <a:t>Features:</a:t>
            </a:r>
            <a:r>
              <a:rPr sz="1650" b="0" i="0" u="none">
                <a:solidFill>
                  <a:srgbClr val="000000"/>
                </a:solidFill>
                <a:latin typeface="Times New Roman"/>
              </a:rPr>
              <a:t> CRUD operations for AcademicRecord entities, automated mapping between verified profiles, and detailed audit logs with confidence scores (0-100%).</a:t>
            </a:r>
          </a:p>
        </p:txBody>
      </p:sp>
      <p:sp>
        <p:nvSpPr>
          <p:cNvPr id="6" name="TextBox 5"/>
          <p:cNvSpPr txBox="1"/>
          <p:nvPr/>
        </p:nvSpPr>
        <p:spPr>
          <a:xfrm>
            <a:off x="1238250" y="4433887"/>
            <a:ext cx="10096500" cy="314325"/>
          </a:xfrm>
          <a:prstGeom prst="rect">
            <a:avLst/>
          </a:prstGeom>
          <a:noFill/>
        </p:spPr>
        <p:txBody>
          <a:bodyPr wrap="square" lIns="0" tIns="0" rIns="0" bIns="0" anchor="t">
            <a:spAutoFit/>
          </a:bodyPr>
          <a:lstStyle/>
          <a:p>
            <a:pPr algn="l">
              <a:lnSpc>
                <a:spcPts val="2475"/>
              </a:lnSpc>
            </a:pPr>
            <a:r>
              <a:rPr sz="1650" b="1" i="0" u="none">
                <a:solidFill>
                  <a:srgbClr val="000000"/>
                </a:solidFill>
                <a:latin typeface="Times New Roman"/>
              </a:rPr>
              <a:t>Goal:</a:t>
            </a:r>
            <a:r>
              <a:rPr sz="1650" b="0" i="0" u="none">
                <a:solidFill>
                  <a:srgbClr val="000000"/>
                </a:solidFill>
                <a:latin typeface="Times New Roman"/>
              </a:rPr>
              <a:t> Match verified candidate credentials against job post requirements.</a:t>
            </a:r>
          </a:p>
        </p:txBody>
      </p:sp>
      <p:sp>
        <p:nvSpPr>
          <p:cNvPr id="7" name="TextBox 6"/>
          <p:cNvSpPr txBox="1"/>
          <p:nvPr/>
        </p:nvSpPr>
        <p:spPr>
          <a:xfrm>
            <a:off x="1238250" y="4938712"/>
            <a:ext cx="10096500" cy="628650"/>
          </a:xfrm>
          <a:prstGeom prst="rect">
            <a:avLst/>
          </a:prstGeom>
          <a:noFill/>
        </p:spPr>
        <p:txBody>
          <a:bodyPr wrap="square" lIns="0" tIns="0" rIns="0" bIns="0" anchor="t">
            <a:spAutoFit/>
          </a:bodyPr>
          <a:lstStyle/>
          <a:p>
            <a:pPr algn="l">
              <a:lnSpc>
                <a:spcPts val="2475"/>
              </a:lnSpc>
            </a:pPr>
            <a:r>
              <a:rPr sz="1650" b="1" i="0" u="none">
                <a:solidFill>
                  <a:srgbClr val="000000"/>
                </a:solidFill>
                <a:latin typeface="Times New Roman"/>
              </a:rPr>
              <a:t>Status (35%):</a:t>
            </a:r>
            <a:r>
              <a:rPr sz="1650" b="0" i="0" u="none">
                <a:solidFill>
                  <a:srgbClr val="000000"/>
                </a:solidFill>
                <a:latin typeface="Times New Roman"/>
              </a:rPr>
              <a:t> JobScannerService &amp; JobEvaluation Controller defined. Parsing job descriptions for required skills and automated eligibility matrix generation are in active development.</a:t>
            </a:r>
          </a:p>
        </p:txBody>
      </p:sp>
      <p:pic>
        <p:nvPicPr>
          <p:cNvPr id="8" name="Picture 7" descr="image.png"/>
          <p:cNvPicPr>
            <a:picLocks noChangeAspect="1"/>
          </p:cNvPicPr>
          <p:nvPr/>
        </p:nvPicPr>
        <p:blipFill>
          <a:blip r:embed="rId2"/>
          <a:stretch>
            <a:fillRect/>
          </a:stretch>
        </p:blipFill>
        <p:spPr>
          <a:xfrm>
            <a:off x="857250" y="2543175"/>
            <a:ext cx="95250" cy="200025"/>
          </a:xfrm>
          <a:prstGeom prst="rect">
            <a:avLst/>
          </a:prstGeom>
        </p:spPr>
      </p:pic>
      <p:pic>
        <p:nvPicPr>
          <p:cNvPr id="9" name="Picture 8" descr="image.png"/>
          <p:cNvPicPr>
            <a:picLocks noChangeAspect="1"/>
          </p:cNvPicPr>
          <p:nvPr/>
        </p:nvPicPr>
        <p:blipFill>
          <a:blip r:embed="rId2"/>
          <a:stretch>
            <a:fillRect/>
          </a:stretch>
        </p:blipFill>
        <p:spPr>
          <a:xfrm>
            <a:off x="857250" y="3048000"/>
            <a:ext cx="95250" cy="200025"/>
          </a:xfrm>
          <a:prstGeom prst="rect">
            <a:avLst/>
          </a:prstGeom>
        </p:spPr>
      </p:pic>
      <p:pic>
        <p:nvPicPr>
          <p:cNvPr id="10" name="Picture 9" descr="image.png"/>
          <p:cNvPicPr>
            <a:picLocks noChangeAspect="1"/>
          </p:cNvPicPr>
          <p:nvPr/>
        </p:nvPicPr>
        <p:blipFill>
          <a:blip r:embed="rId2"/>
          <a:stretch>
            <a:fillRect/>
          </a:stretch>
        </p:blipFill>
        <p:spPr>
          <a:xfrm>
            <a:off x="857250" y="4486275"/>
            <a:ext cx="95250" cy="200025"/>
          </a:xfrm>
          <a:prstGeom prst="rect">
            <a:avLst/>
          </a:prstGeom>
        </p:spPr>
      </p:pic>
      <p:pic>
        <p:nvPicPr>
          <p:cNvPr id="11" name="Picture 10" descr="image.png"/>
          <p:cNvPicPr>
            <a:picLocks noChangeAspect="1"/>
          </p:cNvPicPr>
          <p:nvPr/>
        </p:nvPicPr>
        <p:blipFill>
          <a:blip r:embed="rId2"/>
          <a:stretch>
            <a:fillRect/>
          </a:stretch>
        </p:blipFill>
        <p:spPr>
          <a:xfrm>
            <a:off x="857250" y="4991100"/>
            <a:ext cx="95250" cy="200025"/>
          </a:xfrm>
          <a:prstGeom prst="rect">
            <a:avLst/>
          </a:prstGeom>
        </p:spPr>
      </p:pic>
      <p:sp>
        <p:nvSpPr>
          <p:cNvPr id="12" name="TextBox 11"/>
          <p:cNvSpPr txBox="1"/>
          <p:nvPr/>
        </p:nvSpPr>
        <p:spPr>
          <a:xfrm>
            <a:off x="581025" y="581025"/>
            <a:ext cx="11581447" cy="466725"/>
          </a:xfrm>
          <a:prstGeom prst="rect">
            <a:avLst/>
          </a:prstGeom>
          <a:noFill/>
        </p:spPr>
        <p:txBody>
          <a:bodyPr wrap="square" lIns="0" tIns="0" rIns="0" bIns="0" anchor="t">
            <a:spAutoFit/>
          </a:bodyPr>
          <a:lstStyle/>
          <a:p>
            <a:pPr algn="l"/>
            <a:r>
              <a:rPr sz="3000" b="1" i="0" u="none">
                <a:solidFill>
                  <a:srgbClr val="000000"/>
                </a:solidFill>
                <a:latin typeface="Times New Roman"/>
              </a:rPr>
              <a:t>Vault &amp; Future Evaluation Engine (Modules 3 &amp; 4)</a:t>
            </a:r>
          </a:p>
        </p:txBody>
      </p:sp>
      <p:sp>
        <p:nvSpPr>
          <p:cNvPr id="13" name="Rectangle 12"/>
          <p:cNvSpPr/>
          <p:nvPr/>
        </p:nvSpPr>
        <p:spPr>
          <a:xfrm>
            <a:off x="581025" y="1123950"/>
            <a:ext cx="11029950"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81025" y="1990725"/>
            <a:ext cx="5540692" cy="304800"/>
          </a:xfrm>
          <a:prstGeom prst="rect">
            <a:avLst/>
          </a:prstGeom>
          <a:noFill/>
        </p:spPr>
        <p:txBody>
          <a:bodyPr wrap="square" lIns="0" tIns="0" rIns="0" bIns="0" anchor="t">
            <a:spAutoFit/>
          </a:bodyPr>
          <a:lstStyle/>
          <a:p>
            <a:pPr algn="l"/>
            <a:r>
              <a:rPr sz="2100" b="1" i="0" u="none">
                <a:solidFill>
                  <a:srgbClr val="000000"/>
                </a:solidFill>
                <a:latin typeface="Times New Roman"/>
              </a:rPr>
              <a:t>Software Requirements</a:t>
            </a:r>
          </a:p>
        </p:txBody>
      </p:sp>
      <p:sp>
        <p:nvSpPr>
          <p:cNvPr id="3" name="TextBox 2"/>
          <p:cNvSpPr txBox="1"/>
          <p:nvPr/>
        </p:nvSpPr>
        <p:spPr>
          <a:xfrm>
            <a:off x="6334125" y="1990725"/>
            <a:ext cx="5540692" cy="304800"/>
          </a:xfrm>
          <a:prstGeom prst="rect">
            <a:avLst/>
          </a:prstGeom>
          <a:noFill/>
        </p:spPr>
        <p:txBody>
          <a:bodyPr wrap="square" lIns="0" tIns="0" rIns="0" bIns="0" anchor="t">
            <a:spAutoFit/>
          </a:bodyPr>
          <a:lstStyle/>
          <a:p>
            <a:pPr algn="l"/>
            <a:r>
              <a:rPr sz="2100" b="1" i="0" u="none">
                <a:solidFill>
                  <a:srgbClr val="000000"/>
                </a:solidFill>
                <a:latin typeface="Times New Roman"/>
              </a:rPr>
              <a:t>Hardware Requirements</a:t>
            </a:r>
          </a:p>
        </p:txBody>
      </p:sp>
      <p:sp>
        <p:nvSpPr>
          <p:cNvPr id="4" name="TextBox 3"/>
          <p:cNvSpPr txBox="1"/>
          <p:nvPr/>
        </p:nvSpPr>
        <p:spPr>
          <a:xfrm>
            <a:off x="742950" y="2438400"/>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5" name="TextBox 4"/>
          <p:cNvSpPr txBox="1"/>
          <p:nvPr/>
        </p:nvSpPr>
        <p:spPr>
          <a:xfrm>
            <a:off x="819150" y="2438400"/>
            <a:ext cx="5038725" cy="314325"/>
          </a:xfrm>
          <a:prstGeom prst="rect">
            <a:avLst/>
          </a:prstGeom>
          <a:noFill/>
        </p:spPr>
        <p:txBody>
          <a:bodyPr wrap="square" lIns="76200" tIns="0" rIns="0" bIns="0" anchor="t">
            <a:spAutoFit/>
          </a:bodyPr>
          <a:lstStyle/>
          <a:p>
            <a:pPr algn="l">
              <a:lnSpc>
                <a:spcPts val="2475"/>
              </a:lnSpc>
            </a:pPr>
            <a:r>
              <a:rPr sz="1650" b="1" i="0" u="none">
                <a:solidFill>
                  <a:srgbClr val="000000"/>
                </a:solidFill>
                <a:latin typeface="Times New Roman"/>
              </a:rPr>
              <a:t>Language:</a:t>
            </a:r>
            <a:r>
              <a:rPr sz="1650" b="0" i="0" u="none">
                <a:solidFill>
                  <a:srgbClr val="000000"/>
                </a:solidFill>
                <a:latin typeface="Times New Roman"/>
              </a:rPr>
              <a:t> Java 21 (JDK 21)</a:t>
            </a:r>
          </a:p>
        </p:txBody>
      </p:sp>
      <p:sp>
        <p:nvSpPr>
          <p:cNvPr id="6" name="TextBox 5"/>
          <p:cNvSpPr txBox="1"/>
          <p:nvPr/>
        </p:nvSpPr>
        <p:spPr>
          <a:xfrm>
            <a:off x="742950" y="2895600"/>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7" name="TextBox 6"/>
          <p:cNvSpPr txBox="1"/>
          <p:nvPr/>
        </p:nvSpPr>
        <p:spPr>
          <a:xfrm>
            <a:off x="819150" y="2895600"/>
            <a:ext cx="5038725" cy="628650"/>
          </a:xfrm>
          <a:prstGeom prst="rect">
            <a:avLst/>
          </a:prstGeom>
          <a:noFill/>
        </p:spPr>
        <p:txBody>
          <a:bodyPr wrap="square" lIns="76200" tIns="0" rIns="0" bIns="0" anchor="t">
            <a:spAutoFit/>
          </a:bodyPr>
          <a:lstStyle/>
          <a:p>
            <a:pPr algn="l">
              <a:lnSpc>
                <a:spcPts val="2475"/>
              </a:lnSpc>
            </a:pPr>
            <a:r>
              <a:rPr sz="1650" b="1" i="0" u="none">
                <a:solidFill>
                  <a:srgbClr val="000000"/>
                </a:solidFill>
                <a:latin typeface="Times New Roman"/>
              </a:rPr>
              <a:t>Framework:</a:t>
            </a:r>
            <a:r>
              <a:rPr sz="1650" b="0" i="0" u="none">
                <a:solidFill>
                  <a:srgbClr val="000000"/>
                </a:solidFill>
                <a:latin typeface="Times New Roman"/>
              </a:rPr>
              <a:t> Spring Boot 4.1 (Spring Security, Spring Data JPA, Web MVC)</a:t>
            </a:r>
          </a:p>
        </p:txBody>
      </p:sp>
      <p:sp>
        <p:nvSpPr>
          <p:cNvPr id="8" name="TextBox 7"/>
          <p:cNvSpPr txBox="1"/>
          <p:nvPr/>
        </p:nvSpPr>
        <p:spPr>
          <a:xfrm>
            <a:off x="742950" y="3667125"/>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9" name="TextBox 8"/>
          <p:cNvSpPr txBox="1"/>
          <p:nvPr/>
        </p:nvSpPr>
        <p:spPr>
          <a:xfrm>
            <a:off x="819150" y="3667125"/>
            <a:ext cx="5038725" cy="314325"/>
          </a:xfrm>
          <a:prstGeom prst="rect">
            <a:avLst/>
          </a:prstGeom>
          <a:noFill/>
        </p:spPr>
        <p:txBody>
          <a:bodyPr wrap="square" lIns="76200" tIns="0" rIns="0" bIns="0" anchor="t">
            <a:spAutoFit/>
          </a:bodyPr>
          <a:lstStyle/>
          <a:p>
            <a:pPr algn="l">
              <a:lnSpc>
                <a:spcPts val="2475"/>
              </a:lnSpc>
            </a:pPr>
            <a:r>
              <a:rPr sz="1650" b="1" i="0" u="none">
                <a:solidFill>
                  <a:srgbClr val="000000"/>
                </a:solidFill>
                <a:latin typeface="Times New Roman"/>
              </a:rPr>
              <a:t>Database:</a:t>
            </a:r>
            <a:r>
              <a:rPr sz="1650" b="0" i="0" u="none">
                <a:solidFill>
                  <a:srgbClr val="000000"/>
                </a:solidFill>
                <a:latin typeface="Times New Roman"/>
              </a:rPr>
              <a:t> PostgreSQL / H2 Database</a:t>
            </a:r>
          </a:p>
        </p:txBody>
      </p:sp>
      <p:sp>
        <p:nvSpPr>
          <p:cNvPr id="10" name="TextBox 9"/>
          <p:cNvSpPr txBox="1"/>
          <p:nvPr/>
        </p:nvSpPr>
        <p:spPr>
          <a:xfrm>
            <a:off x="742950" y="4124325"/>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11" name="TextBox 10"/>
          <p:cNvSpPr txBox="1"/>
          <p:nvPr/>
        </p:nvSpPr>
        <p:spPr>
          <a:xfrm>
            <a:off x="819150" y="4124325"/>
            <a:ext cx="5038725" cy="314325"/>
          </a:xfrm>
          <a:prstGeom prst="rect">
            <a:avLst/>
          </a:prstGeom>
          <a:noFill/>
        </p:spPr>
        <p:txBody>
          <a:bodyPr wrap="square" lIns="76200" tIns="0" rIns="0" bIns="0" anchor="t">
            <a:spAutoFit/>
          </a:bodyPr>
          <a:lstStyle/>
          <a:p>
            <a:pPr algn="l">
              <a:lnSpc>
                <a:spcPts val="2475"/>
              </a:lnSpc>
            </a:pPr>
            <a:r>
              <a:rPr sz="1650" b="1" i="0" u="none">
                <a:solidFill>
                  <a:srgbClr val="000000"/>
                </a:solidFill>
                <a:latin typeface="Times New Roman"/>
              </a:rPr>
              <a:t>Build Tool:</a:t>
            </a:r>
            <a:r>
              <a:rPr sz="1650" b="0" i="0" u="none">
                <a:solidFill>
                  <a:srgbClr val="000000"/>
                </a:solidFill>
                <a:latin typeface="Times New Roman"/>
              </a:rPr>
              <a:t> Apache Maven</a:t>
            </a:r>
          </a:p>
        </p:txBody>
      </p:sp>
      <p:sp>
        <p:nvSpPr>
          <p:cNvPr id="12" name="TextBox 11"/>
          <p:cNvSpPr txBox="1"/>
          <p:nvPr/>
        </p:nvSpPr>
        <p:spPr>
          <a:xfrm>
            <a:off x="742950" y="4581525"/>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13" name="TextBox 12"/>
          <p:cNvSpPr txBox="1"/>
          <p:nvPr/>
        </p:nvSpPr>
        <p:spPr>
          <a:xfrm>
            <a:off x="819150" y="4581525"/>
            <a:ext cx="5038725" cy="628650"/>
          </a:xfrm>
          <a:prstGeom prst="rect">
            <a:avLst/>
          </a:prstGeom>
          <a:noFill/>
        </p:spPr>
        <p:txBody>
          <a:bodyPr wrap="square" lIns="76200" tIns="0" rIns="0" bIns="0" anchor="t">
            <a:spAutoFit/>
          </a:bodyPr>
          <a:lstStyle/>
          <a:p>
            <a:pPr algn="l">
              <a:lnSpc>
                <a:spcPts val="2475"/>
              </a:lnSpc>
            </a:pPr>
            <a:r>
              <a:rPr sz="1650" b="1" i="0" u="none">
                <a:solidFill>
                  <a:srgbClr val="000000"/>
                </a:solidFill>
                <a:latin typeface="Times New Roman"/>
              </a:rPr>
              <a:t>Libraries:</a:t>
            </a:r>
            <a:r>
              <a:rPr sz="1650" b="0" i="0" u="none">
                <a:solidFill>
                  <a:srgbClr val="000000"/>
                </a:solidFill>
                <a:latin typeface="Times New Roman"/>
              </a:rPr>
              <a:t> Apache PDFBox (PDF Text &amp; Metadata), ZXing (QR Code processing)</a:t>
            </a:r>
          </a:p>
        </p:txBody>
      </p:sp>
      <p:sp>
        <p:nvSpPr>
          <p:cNvPr id="14" name="TextBox 13"/>
          <p:cNvSpPr txBox="1"/>
          <p:nvPr/>
        </p:nvSpPr>
        <p:spPr>
          <a:xfrm>
            <a:off x="742950" y="5353050"/>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15" name="TextBox 14"/>
          <p:cNvSpPr txBox="1"/>
          <p:nvPr/>
        </p:nvSpPr>
        <p:spPr>
          <a:xfrm>
            <a:off x="819150" y="5353050"/>
            <a:ext cx="5038725" cy="314325"/>
          </a:xfrm>
          <a:prstGeom prst="rect">
            <a:avLst/>
          </a:prstGeom>
          <a:noFill/>
        </p:spPr>
        <p:txBody>
          <a:bodyPr wrap="square" lIns="76200" tIns="0" rIns="0" bIns="0" anchor="t">
            <a:spAutoFit/>
          </a:bodyPr>
          <a:lstStyle/>
          <a:p>
            <a:pPr algn="l">
              <a:lnSpc>
                <a:spcPts val="2475"/>
              </a:lnSpc>
            </a:pPr>
            <a:r>
              <a:rPr sz="1650" b="1" i="0" u="none">
                <a:solidFill>
                  <a:srgbClr val="000000"/>
                </a:solidFill>
                <a:latin typeface="Times New Roman"/>
              </a:rPr>
              <a:t>IDE &amp; Tools:</a:t>
            </a:r>
            <a:r>
              <a:rPr sz="1650" b="0" i="0" u="none">
                <a:solidFill>
                  <a:srgbClr val="000000"/>
                </a:solidFill>
                <a:latin typeface="Times New Roman"/>
              </a:rPr>
              <a:t> IntelliJ IDEA / VS Code, Postman</a:t>
            </a:r>
          </a:p>
        </p:txBody>
      </p:sp>
      <p:sp>
        <p:nvSpPr>
          <p:cNvPr id="16" name="TextBox 15"/>
          <p:cNvSpPr txBox="1"/>
          <p:nvPr/>
        </p:nvSpPr>
        <p:spPr>
          <a:xfrm>
            <a:off x="6496050" y="2438400"/>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17" name="TextBox 16"/>
          <p:cNvSpPr txBox="1"/>
          <p:nvPr/>
        </p:nvSpPr>
        <p:spPr>
          <a:xfrm>
            <a:off x="6572250" y="2438400"/>
            <a:ext cx="5038725" cy="314325"/>
          </a:xfrm>
          <a:prstGeom prst="rect">
            <a:avLst/>
          </a:prstGeom>
          <a:noFill/>
        </p:spPr>
        <p:txBody>
          <a:bodyPr wrap="square" lIns="76200" tIns="0" rIns="0" bIns="0" anchor="t">
            <a:spAutoFit/>
          </a:bodyPr>
          <a:lstStyle/>
          <a:p>
            <a:pPr algn="l">
              <a:lnSpc>
                <a:spcPts val="2475"/>
              </a:lnSpc>
            </a:pPr>
            <a:r>
              <a:rPr sz="1650" b="1" i="0" u="none">
                <a:solidFill>
                  <a:srgbClr val="000000"/>
                </a:solidFill>
                <a:latin typeface="Times New Roman"/>
              </a:rPr>
              <a:t>Processor:</a:t>
            </a:r>
            <a:r>
              <a:rPr sz="1650" b="0" i="0" u="none">
                <a:solidFill>
                  <a:srgbClr val="000000"/>
                </a:solidFill>
                <a:latin typeface="Times New Roman"/>
              </a:rPr>
              <a:t> Intel Core i5 / AMD Ryzen 5 or higher</a:t>
            </a:r>
          </a:p>
        </p:txBody>
      </p:sp>
      <p:sp>
        <p:nvSpPr>
          <p:cNvPr id="18" name="TextBox 17"/>
          <p:cNvSpPr txBox="1"/>
          <p:nvPr/>
        </p:nvSpPr>
        <p:spPr>
          <a:xfrm>
            <a:off x="6496050" y="2895600"/>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19" name="TextBox 18"/>
          <p:cNvSpPr txBox="1"/>
          <p:nvPr/>
        </p:nvSpPr>
        <p:spPr>
          <a:xfrm>
            <a:off x="6572250" y="2895600"/>
            <a:ext cx="5038725" cy="314325"/>
          </a:xfrm>
          <a:prstGeom prst="rect">
            <a:avLst/>
          </a:prstGeom>
          <a:noFill/>
        </p:spPr>
        <p:txBody>
          <a:bodyPr wrap="square" lIns="76200" tIns="0" rIns="0" bIns="0" anchor="t">
            <a:spAutoFit/>
          </a:bodyPr>
          <a:lstStyle/>
          <a:p>
            <a:pPr algn="l">
              <a:lnSpc>
                <a:spcPts val="2475"/>
              </a:lnSpc>
            </a:pPr>
            <a:r>
              <a:rPr sz="1650" b="1" i="0" u="none">
                <a:solidFill>
                  <a:srgbClr val="000000"/>
                </a:solidFill>
                <a:latin typeface="Times New Roman"/>
              </a:rPr>
              <a:t>RAM:</a:t>
            </a:r>
            <a:r>
              <a:rPr sz="1650" b="0" i="0" u="none">
                <a:solidFill>
                  <a:srgbClr val="000000"/>
                </a:solidFill>
                <a:latin typeface="Times New Roman"/>
              </a:rPr>
              <a:t> Minimum 8 GB (16 GB Recommended)</a:t>
            </a:r>
          </a:p>
        </p:txBody>
      </p:sp>
      <p:sp>
        <p:nvSpPr>
          <p:cNvPr id="20" name="TextBox 19"/>
          <p:cNvSpPr txBox="1"/>
          <p:nvPr/>
        </p:nvSpPr>
        <p:spPr>
          <a:xfrm>
            <a:off x="6496050" y="3352800"/>
            <a:ext cx="76200" cy="314325"/>
          </a:xfrm>
          <a:prstGeom prst="rect">
            <a:avLst/>
          </a:prstGeom>
          <a:noFill/>
        </p:spPr>
        <p:txBody>
          <a:bodyPr wrap="square" lIns="0" tIns="0" rIns="0" bIns="0" anchor="t">
            <a:spAutoFit/>
          </a:bodyPr>
          <a:lstStyle/>
          <a:p>
            <a:pPr algn="l"/>
            <a:r>
              <a:rPr sz="1650" b="0" i="0" u="none">
                <a:solidFill>
                  <a:srgbClr val="000000"/>
                </a:solidFill>
                <a:latin typeface="Times New Roman"/>
              </a:rPr>
              <a:t>▪</a:t>
            </a:r>
          </a:p>
        </p:txBody>
      </p:sp>
      <p:sp>
        <p:nvSpPr>
          <p:cNvPr id="21" name="TextBox 20"/>
          <p:cNvSpPr txBox="1"/>
          <p:nvPr/>
        </p:nvSpPr>
        <p:spPr>
          <a:xfrm>
            <a:off x="6572250" y="3352800"/>
            <a:ext cx="5038725" cy="628650"/>
          </a:xfrm>
          <a:prstGeom prst="rect">
            <a:avLst/>
          </a:prstGeom>
          <a:noFill/>
        </p:spPr>
        <p:txBody>
          <a:bodyPr wrap="square" lIns="76200" tIns="0" rIns="0" bIns="0" anchor="t">
            <a:spAutoFit/>
          </a:bodyPr>
          <a:lstStyle/>
          <a:p>
            <a:pPr algn="l">
              <a:lnSpc>
                <a:spcPts val="2475"/>
              </a:lnSpc>
            </a:pPr>
            <a:r>
              <a:rPr sz="1650" b="1" i="0" u="none">
                <a:solidFill>
                  <a:srgbClr val="000000"/>
                </a:solidFill>
                <a:latin typeface="Times New Roman"/>
              </a:rPr>
              <a:t>Storage:</a:t>
            </a:r>
            <a:r>
              <a:rPr sz="1650" b="0" i="0" u="none">
                <a:solidFill>
                  <a:srgbClr val="000000"/>
                </a:solidFill>
                <a:latin typeface="Times New Roman"/>
              </a:rPr>
              <a:t> 1 GB free disk space for application &amp; database logs</a:t>
            </a:r>
          </a:p>
        </p:txBody>
      </p:sp>
      <p:sp>
        <p:nvSpPr>
          <p:cNvPr id="22" name="TextBox 21"/>
          <p:cNvSpPr txBox="1"/>
          <p:nvPr/>
        </p:nvSpPr>
        <p:spPr>
          <a:xfrm>
            <a:off x="581025" y="581025"/>
            <a:ext cx="11581447" cy="466725"/>
          </a:xfrm>
          <a:prstGeom prst="rect">
            <a:avLst/>
          </a:prstGeom>
          <a:noFill/>
        </p:spPr>
        <p:txBody>
          <a:bodyPr wrap="square" lIns="0" tIns="0" rIns="0" bIns="0" anchor="t">
            <a:spAutoFit/>
          </a:bodyPr>
          <a:lstStyle/>
          <a:p>
            <a:pPr algn="l"/>
            <a:r>
              <a:rPr sz="3000" b="1" i="0" u="none">
                <a:solidFill>
                  <a:srgbClr val="000000"/>
                </a:solidFill>
                <a:latin typeface="Times New Roman"/>
              </a:rPr>
              <a:t>Software &amp; Hardware Requirements</a:t>
            </a:r>
          </a:p>
        </p:txBody>
      </p:sp>
      <p:sp>
        <p:nvSpPr>
          <p:cNvPr id="23" name="Rectangle 22"/>
          <p:cNvSpPr/>
          <p:nvPr/>
        </p:nvSpPr>
        <p:spPr>
          <a:xfrm>
            <a:off x="581025" y="1123950"/>
            <a:ext cx="11029950"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81025" y="2205037"/>
            <a:ext cx="3422600" cy="3390900"/>
          </a:xfrm>
          <a:prstGeom prst="rect">
            <a:avLst/>
          </a:prstGeom>
        </p:spPr>
      </p:pic>
      <p:pic>
        <p:nvPicPr>
          <p:cNvPr id="3" name="Picture 2" descr="image.png"/>
          <p:cNvPicPr>
            <a:picLocks noChangeAspect="1"/>
          </p:cNvPicPr>
          <p:nvPr/>
        </p:nvPicPr>
        <p:blipFill>
          <a:blip r:embed="rId2"/>
          <a:stretch>
            <a:fillRect/>
          </a:stretch>
        </p:blipFill>
        <p:spPr>
          <a:xfrm>
            <a:off x="4384625" y="2205037"/>
            <a:ext cx="3422600" cy="3390900"/>
          </a:xfrm>
          <a:prstGeom prst="rect">
            <a:avLst/>
          </a:prstGeom>
        </p:spPr>
      </p:pic>
      <p:pic>
        <p:nvPicPr>
          <p:cNvPr id="4" name="Picture 3" descr="image.png"/>
          <p:cNvPicPr>
            <a:picLocks noChangeAspect="1"/>
          </p:cNvPicPr>
          <p:nvPr/>
        </p:nvPicPr>
        <p:blipFill>
          <a:blip r:embed="rId2"/>
          <a:stretch>
            <a:fillRect/>
          </a:stretch>
        </p:blipFill>
        <p:spPr>
          <a:xfrm>
            <a:off x="8188225" y="2205037"/>
            <a:ext cx="3422600" cy="3390900"/>
          </a:xfrm>
          <a:prstGeom prst="rect">
            <a:avLst/>
          </a:prstGeom>
        </p:spPr>
      </p:pic>
      <p:sp>
        <p:nvSpPr>
          <p:cNvPr id="5" name="TextBox 4"/>
          <p:cNvSpPr txBox="1"/>
          <p:nvPr/>
        </p:nvSpPr>
        <p:spPr>
          <a:xfrm>
            <a:off x="876300" y="3138487"/>
            <a:ext cx="2325603" cy="304800"/>
          </a:xfrm>
          <a:prstGeom prst="rect">
            <a:avLst/>
          </a:prstGeom>
          <a:noFill/>
        </p:spPr>
        <p:txBody>
          <a:bodyPr wrap="square" lIns="0" tIns="0" rIns="0" bIns="0" anchor="t">
            <a:spAutoFit/>
          </a:bodyPr>
          <a:lstStyle/>
          <a:p>
            <a:pPr algn="l"/>
            <a:r>
              <a:rPr sz="2100" b="1" i="0" u="none">
                <a:solidFill>
                  <a:srgbClr val="000000"/>
                </a:solidFill>
                <a:latin typeface="Times New Roman"/>
              </a:rPr>
              <a:t>Milestone Achieved</a:t>
            </a:r>
          </a:p>
        </p:txBody>
      </p:sp>
      <p:sp>
        <p:nvSpPr>
          <p:cNvPr id="6" name="TextBox 5"/>
          <p:cNvSpPr txBox="1"/>
          <p:nvPr/>
        </p:nvSpPr>
        <p:spPr>
          <a:xfrm>
            <a:off x="876300" y="3586162"/>
            <a:ext cx="2832050" cy="15716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Successfully completed Modules 1, 2, and 3, delivering a fully functional 60%+ working application core ready for demonstration.</a:t>
            </a:r>
          </a:p>
        </p:txBody>
      </p:sp>
      <p:sp>
        <p:nvSpPr>
          <p:cNvPr id="7" name="TextBox 6"/>
          <p:cNvSpPr txBox="1"/>
          <p:nvPr/>
        </p:nvSpPr>
        <p:spPr>
          <a:xfrm>
            <a:off x="4679900" y="3138487"/>
            <a:ext cx="2279191" cy="304800"/>
          </a:xfrm>
          <a:prstGeom prst="rect">
            <a:avLst/>
          </a:prstGeom>
          <a:noFill/>
        </p:spPr>
        <p:txBody>
          <a:bodyPr wrap="square" lIns="0" tIns="0" rIns="0" bIns="0" anchor="t">
            <a:spAutoFit/>
          </a:bodyPr>
          <a:lstStyle/>
          <a:p>
            <a:pPr algn="l"/>
            <a:r>
              <a:rPr sz="2100" b="1" i="0" u="none">
                <a:solidFill>
                  <a:srgbClr val="000000"/>
                </a:solidFill>
                <a:latin typeface="Times New Roman"/>
              </a:rPr>
              <a:t>Automated Checks</a:t>
            </a:r>
          </a:p>
        </p:txBody>
      </p:sp>
      <p:sp>
        <p:nvSpPr>
          <p:cNvPr id="8" name="TextBox 7"/>
          <p:cNvSpPr txBox="1"/>
          <p:nvPr/>
        </p:nvSpPr>
        <p:spPr>
          <a:xfrm>
            <a:off x="4679900" y="3586162"/>
            <a:ext cx="2832050" cy="15716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Automated multi-tier verification effectively eliminates manual document checks, saving HR departments significant time and resources.</a:t>
            </a:r>
          </a:p>
        </p:txBody>
      </p:sp>
      <p:sp>
        <p:nvSpPr>
          <p:cNvPr id="9" name="TextBox 8"/>
          <p:cNvSpPr txBox="1"/>
          <p:nvPr/>
        </p:nvSpPr>
        <p:spPr>
          <a:xfrm>
            <a:off x="8483500" y="3138487"/>
            <a:ext cx="2268408" cy="304800"/>
          </a:xfrm>
          <a:prstGeom prst="rect">
            <a:avLst/>
          </a:prstGeom>
          <a:noFill/>
        </p:spPr>
        <p:txBody>
          <a:bodyPr wrap="square" lIns="0" tIns="0" rIns="0" bIns="0" anchor="t">
            <a:spAutoFit/>
          </a:bodyPr>
          <a:lstStyle/>
          <a:p>
            <a:pPr algn="l"/>
            <a:r>
              <a:rPr sz="2100" b="1" i="0" u="none">
                <a:solidFill>
                  <a:srgbClr val="000000"/>
                </a:solidFill>
                <a:latin typeface="Times New Roman"/>
              </a:rPr>
              <a:t>Clean Architecture</a:t>
            </a:r>
          </a:p>
        </p:txBody>
      </p:sp>
      <p:sp>
        <p:nvSpPr>
          <p:cNvPr id="10" name="TextBox 9"/>
          <p:cNvSpPr txBox="1"/>
          <p:nvPr/>
        </p:nvSpPr>
        <p:spPr>
          <a:xfrm>
            <a:off x="8483500" y="3586162"/>
            <a:ext cx="2832050" cy="15716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Clean Object-Oriented Architecture ensures maintainability, scalability, and loose coupling, safeguarding against fraudulent certificates.</a:t>
            </a:r>
          </a:p>
        </p:txBody>
      </p:sp>
      <p:pic>
        <p:nvPicPr>
          <p:cNvPr id="11" name="Picture 10" descr="image.png"/>
          <p:cNvPicPr>
            <a:picLocks noChangeAspect="1"/>
          </p:cNvPicPr>
          <p:nvPr/>
        </p:nvPicPr>
        <p:blipFill>
          <a:blip r:embed="rId3"/>
          <a:stretch>
            <a:fillRect/>
          </a:stretch>
        </p:blipFill>
        <p:spPr>
          <a:xfrm>
            <a:off x="876300" y="2519362"/>
            <a:ext cx="333375" cy="381000"/>
          </a:xfrm>
          <a:prstGeom prst="rect">
            <a:avLst/>
          </a:prstGeom>
        </p:spPr>
      </p:pic>
      <p:pic>
        <p:nvPicPr>
          <p:cNvPr id="12" name="Picture 11" descr="image.png"/>
          <p:cNvPicPr>
            <a:picLocks noChangeAspect="1"/>
          </p:cNvPicPr>
          <p:nvPr/>
        </p:nvPicPr>
        <p:blipFill>
          <a:blip r:embed="rId4"/>
          <a:stretch>
            <a:fillRect/>
          </a:stretch>
        </p:blipFill>
        <p:spPr>
          <a:xfrm>
            <a:off x="4679900" y="2519362"/>
            <a:ext cx="476250" cy="381000"/>
          </a:xfrm>
          <a:prstGeom prst="rect">
            <a:avLst/>
          </a:prstGeom>
        </p:spPr>
      </p:pic>
      <p:pic>
        <p:nvPicPr>
          <p:cNvPr id="13" name="Picture 12" descr="image.png"/>
          <p:cNvPicPr>
            <a:picLocks noChangeAspect="1"/>
          </p:cNvPicPr>
          <p:nvPr/>
        </p:nvPicPr>
        <p:blipFill>
          <a:blip r:embed="rId5"/>
          <a:stretch>
            <a:fillRect/>
          </a:stretch>
        </p:blipFill>
        <p:spPr>
          <a:xfrm>
            <a:off x="8483500" y="2519362"/>
            <a:ext cx="476250" cy="381000"/>
          </a:xfrm>
          <a:prstGeom prst="rect">
            <a:avLst/>
          </a:prstGeom>
        </p:spPr>
      </p:pic>
      <p:sp>
        <p:nvSpPr>
          <p:cNvPr id="14" name="TextBox 13"/>
          <p:cNvSpPr txBox="1"/>
          <p:nvPr/>
        </p:nvSpPr>
        <p:spPr>
          <a:xfrm>
            <a:off x="581025" y="581025"/>
            <a:ext cx="11581447" cy="466725"/>
          </a:xfrm>
          <a:prstGeom prst="rect">
            <a:avLst/>
          </a:prstGeom>
          <a:noFill/>
        </p:spPr>
        <p:txBody>
          <a:bodyPr wrap="square" lIns="0" tIns="0" rIns="0" bIns="0" anchor="t">
            <a:spAutoFit/>
          </a:bodyPr>
          <a:lstStyle/>
          <a:p>
            <a:pPr algn="l"/>
            <a:r>
              <a:rPr sz="3000" b="1" i="0" u="none">
                <a:solidFill>
                  <a:srgbClr val="000000"/>
                </a:solidFill>
                <a:latin typeface="Times New Roman"/>
              </a:rPr>
              <a:t>Conclusion</a:t>
            </a:r>
          </a:p>
        </p:txBody>
      </p:sp>
      <p:sp>
        <p:nvSpPr>
          <p:cNvPr id="15" name="Rectangle 14"/>
          <p:cNvSpPr/>
          <p:nvPr/>
        </p:nvSpPr>
        <p:spPr>
          <a:xfrm>
            <a:off x="581025" y="1123950"/>
            <a:ext cx="11029950"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57250" y="1347787"/>
            <a:ext cx="11001375" cy="304800"/>
          </a:xfrm>
          <a:prstGeom prst="rect">
            <a:avLst/>
          </a:prstGeom>
          <a:noFill/>
        </p:spPr>
        <p:txBody>
          <a:bodyPr wrap="square" lIns="0" tIns="0" rIns="0" bIns="0" anchor="t">
            <a:spAutoFit/>
          </a:bodyPr>
          <a:lstStyle/>
          <a:p>
            <a:pPr algn="l"/>
            <a:r>
              <a:rPr sz="2100" b="1" i="0" u="none">
                <a:solidFill>
                  <a:srgbClr val="000000"/>
                </a:solidFill>
                <a:latin typeface="Times New Roman"/>
              </a:rPr>
              <a:t>Future Scope</a:t>
            </a:r>
          </a:p>
        </p:txBody>
      </p:sp>
      <p:sp>
        <p:nvSpPr>
          <p:cNvPr id="3" name="TextBox 2"/>
          <p:cNvSpPr txBox="1"/>
          <p:nvPr/>
        </p:nvSpPr>
        <p:spPr>
          <a:xfrm>
            <a:off x="857250" y="3986212"/>
            <a:ext cx="11001375" cy="304800"/>
          </a:xfrm>
          <a:prstGeom prst="rect">
            <a:avLst/>
          </a:prstGeom>
          <a:noFill/>
        </p:spPr>
        <p:txBody>
          <a:bodyPr wrap="square" lIns="0" tIns="0" rIns="0" bIns="0" anchor="t">
            <a:spAutoFit/>
          </a:bodyPr>
          <a:lstStyle/>
          <a:p>
            <a:pPr algn="l"/>
            <a:r>
              <a:rPr sz="2100" b="1" i="0" u="none">
                <a:solidFill>
                  <a:srgbClr val="000000"/>
                </a:solidFill>
                <a:latin typeface="Times New Roman"/>
              </a:rPr>
              <a:t>References</a:t>
            </a:r>
          </a:p>
        </p:txBody>
      </p:sp>
      <p:sp>
        <p:nvSpPr>
          <p:cNvPr id="4" name="TextBox 3"/>
          <p:cNvSpPr txBox="1"/>
          <p:nvPr/>
        </p:nvSpPr>
        <p:spPr>
          <a:xfrm>
            <a:off x="1238250" y="1795462"/>
            <a:ext cx="10096500" cy="3143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Complete Module 4 (AI-driven skill matching &amp; recruiter analytics).</a:t>
            </a:r>
          </a:p>
        </p:txBody>
      </p:sp>
      <p:sp>
        <p:nvSpPr>
          <p:cNvPr id="5" name="TextBox 4"/>
          <p:cNvSpPr txBox="1"/>
          <p:nvPr/>
        </p:nvSpPr>
        <p:spPr>
          <a:xfrm>
            <a:off x="1238250" y="2300287"/>
            <a:ext cx="10096500" cy="3143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Integrate Blockchain network anchoring for immutable degree issuance.</a:t>
            </a:r>
          </a:p>
        </p:txBody>
      </p:sp>
      <p:sp>
        <p:nvSpPr>
          <p:cNvPr id="6" name="TextBox 5"/>
          <p:cNvSpPr txBox="1"/>
          <p:nvPr/>
        </p:nvSpPr>
        <p:spPr>
          <a:xfrm>
            <a:off x="1238250" y="2805112"/>
            <a:ext cx="10096500" cy="3143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Develop a Cross-Platform Mobile Application (Android/iOS) for instant QR certificate scanning.</a:t>
            </a:r>
          </a:p>
        </p:txBody>
      </p:sp>
      <p:sp>
        <p:nvSpPr>
          <p:cNvPr id="7" name="TextBox 6"/>
          <p:cNvSpPr txBox="1"/>
          <p:nvPr/>
        </p:nvSpPr>
        <p:spPr>
          <a:xfrm>
            <a:off x="1238250" y="3309937"/>
            <a:ext cx="10096500" cy="3143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Implement OAuth2 / Single Sign-On (SSO) with university portals.</a:t>
            </a:r>
          </a:p>
        </p:txBody>
      </p:sp>
      <p:sp>
        <p:nvSpPr>
          <p:cNvPr id="8" name="TextBox 7"/>
          <p:cNvSpPr txBox="1"/>
          <p:nvPr/>
        </p:nvSpPr>
        <p:spPr>
          <a:xfrm>
            <a:off x="1238250" y="4433887"/>
            <a:ext cx="10096500" cy="3143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Spring Boot Documentation (spring.io/projects/spring-boot)</a:t>
            </a:r>
          </a:p>
        </p:txBody>
      </p:sp>
      <p:sp>
        <p:nvSpPr>
          <p:cNvPr id="9" name="TextBox 8"/>
          <p:cNvSpPr txBox="1"/>
          <p:nvPr/>
        </p:nvSpPr>
        <p:spPr>
          <a:xfrm>
            <a:off x="1238250" y="4938712"/>
            <a:ext cx="10096500" cy="3143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Java 21 Documentation &amp; OOP Design Principles (Oracle Docs)</a:t>
            </a:r>
          </a:p>
        </p:txBody>
      </p:sp>
      <p:sp>
        <p:nvSpPr>
          <p:cNvPr id="10" name="TextBox 9"/>
          <p:cNvSpPr txBox="1"/>
          <p:nvPr/>
        </p:nvSpPr>
        <p:spPr>
          <a:xfrm>
            <a:off x="1238250" y="5443537"/>
            <a:ext cx="10096500" cy="3143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Apache PDFBox Library (pdfbox.apache.org)</a:t>
            </a:r>
          </a:p>
        </p:txBody>
      </p:sp>
      <p:sp>
        <p:nvSpPr>
          <p:cNvPr id="11" name="TextBox 10"/>
          <p:cNvSpPr txBox="1"/>
          <p:nvPr/>
        </p:nvSpPr>
        <p:spPr>
          <a:xfrm>
            <a:off x="1238250" y="5948362"/>
            <a:ext cx="10096500" cy="314325"/>
          </a:xfrm>
          <a:prstGeom prst="rect">
            <a:avLst/>
          </a:prstGeom>
          <a:noFill/>
        </p:spPr>
        <p:txBody>
          <a:bodyPr wrap="square" lIns="0" tIns="0" rIns="0" bIns="0" anchor="t">
            <a:spAutoFit/>
          </a:bodyPr>
          <a:lstStyle/>
          <a:p>
            <a:pPr algn="l">
              <a:lnSpc>
                <a:spcPts val="2475"/>
              </a:lnSpc>
            </a:pPr>
            <a:r>
              <a:rPr sz="1650" b="0" i="0" u="none">
                <a:solidFill>
                  <a:srgbClr val="000000"/>
                </a:solidFill>
                <a:latin typeface="Times New Roman"/>
              </a:rPr>
              <a:t>Design Patterns: Elements of Reusable Object-Oriented Software (Gang of Four)</a:t>
            </a:r>
          </a:p>
        </p:txBody>
      </p:sp>
      <p:pic>
        <p:nvPicPr>
          <p:cNvPr id="12" name="Picture 11" descr="image.png"/>
          <p:cNvPicPr>
            <a:picLocks noChangeAspect="1"/>
          </p:cNvPicPr>
          <p:nvPr/>
        </p:nvPicPr>
        <p:blipFill>
          <a:blip r:embed="rId2"/>
          <a:stretch>
            <a:fillRect/>
          </a:stretch>
        </p:blipFill>
        <p:spPr>
          <a:xfrm>
            <a:off x="857250" y="1847850"/>
            <a:ext cx="171450" cy="200025"/>
          </a:xfrm>
          <a:prstGeom prst="rect">
            <a:avLst/>
          </a:prstGeom>
        </p:spPr>
      </p:pic>
      <p:pic>
        <p:nvPicPr>
          <p:cNvPr id="13" name="Picture 12" descr="image.png"/>
          <p:cNvPicPr>
            <a:picLocks noChangeAspect="1"/>
          </p:cNvPicPr>
          <p:nvPr/>
        </p:nvPicPr>
        <p:blipFill>
          <a:blip r:embed="rId2"/>
          <a:stretch>
            <a:fillRect/>
          </a:stretch>
        </p:blipFill>
        <p:spPr>
          <a:xfrm>
            <a:off x="857250" y="2352675"/>
            <a:ext cx="171450" cy="200025"/>
          </a:xfrm>
          <a:prstGeom prst="rect">
            <a:avLst/>
          </a:prstGeom>
        </p:spPr>
      </p:pic>
      <p:pic>
        <p:nvPicPr>
          <p:cNvPr id="14" name="Picture 13" descr="image.png"/>
          <p:cNvPicPr>
            <a:picLocks noChangeAspect="1"/>
          </p:cNvPicPr>
          <p:nvPr/>
        </p:nvPicPr>
        <p:blipFill>
          <a:blip r:embed="rId2"/>
          <a:stretch>
            <a:fillRect/>
          </a:stretch>
        </p:blipFill>
        <p:spPr>
          <a:xfrm>
            <a:off x="857250" y="2857500"/>
            <a:ext cx="171450" cy="200025"/>
          </a:xfrm>
          <a:prstGeom prst="rect">
            <a:avLst/>
          </a:prstGeom>
        </p:spPr>
      </p:pic>
      <p:pic>
        <p:nvPicPr>
          <p:cNvPr id="15" name="Picture 14" descr="image.png"/>
          <p:cNvPicPr>
            <a:picLocks noChangeAspect="1"/>
          </p:cNvPicPr>
          <p:nvPr/>
        </p:nvPicPr>
        <p:blipFill>
          <a:blip r:embed="rId2"/>
          <a:stretch>
            <a:fillRect/>
          </a:stretch>
        </p:blipFill>
        <p:spPr>
          <a:xfrm>
            <a:off x="857250" y="3362325"/>
            <a:ext cx="171450" cy="200025"/>
          </a:xfrm>
          <a:prstGeom prst="rect">
            <a:avLst/>
          </a:prstGeom>
        </p:spPr>
      </p:pic>
      <p:pic>
        <p:nvPicPr>
          <p:cNvPr id="16" name="Picture 15" descr="image.png"/>
          <p:cNvPicPr>
            <a:picLocks noChangeAspect="1"/>
          </p:cNvPicPr>
          <p:nvPr/>
        </p:nvPicPr>
        <p:blipFill>
          <a:blip r:embed="rId3"/>
          <a:stretch>
            <a:fillRect/>
          </a:stretch>
        </p:blipFill>
        <p:spPr>
          <a:xfrm>
            <a:off x="857250" y="4486275"/>
            <a:ext cx="171450" cy="200025"/>
          </a:xfrm>
          <a:prstGeom prst="rect">
            <a:avLst/>
          </a:prstGeom>
        </p:spPr>
      </p:pic>
      <p:pic>
        <p:nvPicPr>
          <p:cNvPr id="17" name="Picture 16" descr="image.png"/>
          <p:cNvPicPr>
            <a:picLocks noChangeAspect="1"/>
          </p:cNvPicPr>
          <p:nvPr/>
        </p:nvPicPr>
        <p:blipFill>
          <a:blip r:embed="rId3"/>
          <a:stretch>
            <a:fillRect/>
          </a:stretch>
        </p:blipFill>
        <p:spPr>
          <a:xfrm>
            <a:off x="857250" y="4991100"/>
            <a:ext cx="171450" cy="200025"/>
          </a:xfrm>
          <a:prstGeom prst="rect">
            <a:avLst/>
          </a:prstGeom>
        </p:spPr>
      </p:pic>
      <p:pic>
        <p:nvPicPr>
          <p:cNvPr id="18" name="Picture 17" descr="image.png"/>
          <p:cNvPicPr>
            <a:picLocks noChangeAspect="1"/>
          </p:cNvPicPr>
          <p:nvPr/>
        </p:nvPicPr>
        <p:blipFill>
          <a:blip r:embed="rId3"/>
          <a:stretch>
            <a:fillRect/>
          </a:stretch>
        </p:blipFill>
        <p:spPr>
          <a:xfrm>
            <a:off x="857250" y="5495925"/>
            <a:ext cx="171450" cy="200025"/>
          </a:xfrm>
          <a:prstGeom prst="rect">
            <a:avLst/>
          </a:prstGeom>
        </p:spPr>
      </p:pic>
      <p:pic>
        <p:nvPicPr>
          <p:cNvPr id="19" name="Picture 18" descr="image.png"/>
          <p:cNvPicPr>
            <a:picLocks noChangeAspect="1"/>
          </p:cNvPicPr>
          <p:nvPr/>
        </p:nvPicPr>
        <p:blipFill>
          <a:blip r:embed="rId3"/>
          <a:stretch>
            <a:fillRect/>
          </a:stretch>
        </p:blipFill>
        <p:spPr>
          <a:xfrm>
            <a:off x="857250" y="6000750"/>
            <a:ext cx="171450" cy="200025"/>
          </a:xfrm>
          <a:prstGeom prst="rect">
            <a:avLst/>
          </a:prstGeom>
        </p:spPr>
      </p:pic>
      <p:sp>
        <p:nvSpPr>
          <p:cNvPr id="20" name="TextBox 19"/>
          <p:cNvSpPr txBox="1"/>
          <p:nvPr/>
        </p:nvSpPr>
        <p:spPr>
          <a:xfrm>
            <a:off x="581025" y="404812"/>
            <a:ext cx="11581447" cy="466725"/>
          </a:xfrm>
          <a:prstGeom prst="rect">
            <a:avLst/>
          </a:prstGeom>
          <a:noFill/>
        </p:spPr>
        <p:txBody>
          <a:bodyPr wrap="square" lIns="0" tIns="0" rIns="0" bIns="0" anchor="t">
            <a:spAutoFit/>
          </a:bodyPr>
          <a:lstStyle/>
          <a:p>
            <a:pPr algn="l"/>
            <a:r>
              <a:rPr sz="3000" b="1" i="0" u="none">
                <a:solidFill>
                  <a:srgbClr val="000000"/>
                </a:solidFill>
                <a:latin typeface="Times New Roman"/>
              </a:rPr>
              <a:t>Future Scope &amp; References</a:t>
            </a:r>
          </a:p>
        </p:txBody>
      </p:sp>
      <p:sp>
        <p:nvSpPr>
          <p:cNvPr id="21" name="Rectangle 20"/>
          <p:cNvSpPr/>
          <p:nvPr/>
        </p:nvSpPr>
        <p:spPr>
          <a:xfrm>
            <a:off x="581025" y="947737"/>
            <a:ext cx="11029950"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05276" y="2352675"/>
            <a:ext cx="11581447" cy="866775"/>
          </a:xfrm>
          <a:prstGeom prst="rect">
            <a:avLst/>
          </a:prstGeom>
          <a:noFill/>
        </p:spPr>
        <p:txBody>
          <a:bodyPr wrap="square" lIns="0" tIns="0" rIns="0" bIns="0" anchor="t">
            <a:spAutoFit/>
          </a:bodyPr>
          <a:lstStyle/>
          <a:p>
            <a:pPr algn="ctr"/>
            <a:r>
              <a:rPr sz="6000" b="1" i="0" u="none">
                <a:solidFill>
                  <a:srgbClr val="000000"/>
                </a:solidFill>
                <a:latin typeface="Times New Roman"/>
              </a:rPr>
              <a:t>Questions?</a:t>
            </a:r>
          </a:p>
        </p:txBody>
      </p:sp>
      <p:sp>
        <p:nvSpPr>
          <p:cNvPr id="3" name="TextBox 2"/>
          <p:cNvSpPr txBox="1"/>
          <p:nvPr/>
        </p:nvSpPr>
        <p:spPr>
          <a:xfrm>
            <a:off x="581025" y="3409950"/>
            <a:ext cx="11029950" cy="457200"/>
          </a:xfrm>
          <a:prstGeom prst="rect">
            <a:avLst/>
          </a:prstGeom>
          <a:noFill/>
        </p:spPr>
        <p:txBody>
          <a:bodyPr wrap="square" lIns="0" tIns="0" rIns="0" bIns="0" anchor="t">
            <a:spAutoFit/>
          </a:bodyPr>
          <a:lstStyle/>
          <a:p>
            <a:pPr algn="ctr">
              <a:lnSpc>
                <a:spcPts val="3600"/>
              </a:lnSpc>
            </a:pPr>
            <a:r>
              <a:rPr sz="2400" b="0" i="0" u="none">
                <a:solidFill>
                  <a:srgbClr val="000000"/>
                </a:solidFill>
                <a:latin typeface="Times New Roman"/>
              </a:rPr>
              <a:t>Thank you for your time and attention.</a:t>
            </a:r>
          </a:p>
        </p:txBody>
      </p:sp>
      <p:sp>
        <p:nvSpPr>
          <p:cNvPr id="4" name="TextBox 3"/>
          <p:cNvSpPr txBox="1"/>
          <p:nvPr/>
        </p:nvSpPr>
        <p:spPr>
          <a:xfrm>
            <a:off x="581025" y="4248150"/>
            <a:ext cx="11029950" cy="276999"/>
          </a:xfrm>
          <a:prstGeom prst="rect">
            <a:avLst/>
          </a:prstGeom>
          <a:noFill/>
        </p:spPr>
        <p:txBody>
          <a:bodyPr wrap="square" lIns="0" tIns="0" rIns="0" bIns="0" anchor="t">
            <a:spAutoFit/>
          </a:bodyPr>
          <a:lstStyle/>
          <a:p>
            <a:pPr algn="ctr"/>
            <a:r>
              <a:rPr sz="1800" b="1" i="0" u="none" dirty="0">
                <a:solidFill>
                  <a:srgbClr val="000000"/>
                </a:solidFill>
                <a:latin typeface="Times New Roman"/>
              </a:rPr>
              <a:t>hestia.paranoia@gmail.com | </a:t>
            </a:r>
            <a:r>
              <a:rPr lang="en-US" sz="1800" b="1" i="0" u="none" dirty="0">
                <a:solidFill>
                  <a:srgbClr val="000000"/>
                </a:solidFill>
                <a:latin typeface="Times New Roman"/>
              </a:rPr>
              <a:t>Hestia on Render: </a:t>
            </a:r>
            <a:r>
              <a:rPr lang="en-US" sz="1800" b="1" i="0" u="none" dirty="0" err="1">
                <a:solidFill>
                  <a:srgbClr val="000000"/>
                </a:solidFill>
                <a:latin typeface="Times New Roman"/>
                <a:hlinkClick r:id="rId2"/>
              </a:rPr>
              <a:t>hes</a:t>
            </a:r>
            <a:r>
              <a:rPr lang="en-US" b="1" dirty="0" err="1">
                <a:solidFill>
                  <a:srgbClr val="000000"/>
                </a:solidFill>
                <a:latin typeface="Times New Roman"/>
                <a:hlinkClick r:id="rId2"/>
              </a:rPr>
              <a:t>tia.site</a:t>
            </a:r>
            <a:endParaRPr sz="1800" b="1" i="0" u="none" dirty="0">
              <a:solidFill>
                <a:srgbClr val="000000"/>
              </a:solidFill>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1083</Words>
  <Application>Microsoft Office PowerPoint</Application>
  <PresentationFormat>Widescreen</PresentationFormat>
  <Paragraphs>136</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Z _</cp:lastModifiedBy>
  <cp:revision>4</cp:revision>
  <dcterms:created xsi:type="dcterms:W3CDTF">2013-01-27T09:14:16Z</dcterms:created>
  <dcterms:modified xsi:type="dcterms:W3CDTF">2026-09-10T10:22:53Z</dcterms:modified>
  <cp:category/>
</cp:coreProperties>
</file>